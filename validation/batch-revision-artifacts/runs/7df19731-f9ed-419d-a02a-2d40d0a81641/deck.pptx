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封面页。来源明确：测试数据单位为千瓦时，观察窗口为虚构测试周，统计对象为照明用电。本页只交代范围，不给出任何结论或因果。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使用调用方已授权素材 asset_53df89e2-f082-4680-9411-8abc446ad30b（320×160 PNG，sha256 已校验）。来源明确该素材为程序人工绘制的测试示意图，仅用于装饰，不证明任何事实；图片语义未经独立复核，也未提取文字。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节点与箭头逐字取自原文“检查照明→设置定时→记录变化”，两条顺序边均附原文引文。原文另给出各节点释义：检查照明指核对灯具与使用时段；设置定时指设置关灯规则；记录变化指记录照明用电。原文明确不得添加其他关系或因果。</a:t>
            </a:r>
          </a:p>
          <a:p/>
          <a:p>
            <a:r>
              <a:t>证据：</a:t>
            </a:r>
          </a:p>
          <a:p>
            <a:r>
              <a:t>evidence_5f4eff91-ebde-4001-a150-76782604e843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表格数值逐项取自原文：A楼基线100、本期90；B楼基线80、本期72；C楼基线60、本期54，单位均为千瓦时。原文明确基线与本期都是明确虚构的记录值，只做并列展示，不推断控制实验或因果效果。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柱图数据与表格同源，均为原文明确虚构的记录值，单位千瓦时。原文要求只做并列展示，不推断控制实验或因果效果，因此不计算降幅、不标注趋势。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逐字取自原文“结论是先核对资料、保留来源，再按原文明示流程执行”。同时重申原文限制：不得添加其他关系或因果，这是软件测试示例；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  <a:p>
            <a:r>
              <a:t>evidence_5f4eff91-ebde-4001-a150-76782604e843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0ee87cb-ab98-477a-b495-03603b016b76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虚构测试：周照明用电演示</a:t>
            </a:r>
          </a:p>
        </p:txBody>
      </p:sp>
      <p:sp>
        <p:nvSpPr>
          <p:cNvPr id="3" name="object_7820b7c4-efa2-4920-ac8e-839abf375c4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测试数据单位为千瓦时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观察窗口为虚构测试周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统计对象为照明用电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全部数值为明确虚构的测试记录</a:t>
            </a:r>
          </a:p>
        </p:txBody>
      </p:sp>
      <p:sp>
        <p:nvSpPr>
          <p:cNvPr id="4" name="object_ca8ad434-ab97-4c43-8d20-57df1690b41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9991dfe-ceea-4650-b99f-e439bbae197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装饰素材：程序人工绘制测试示意图</a:t>
            </a:r>
          </a:p>
        </p:txBody>
      </p:sp>
      <p:sp>
        <p:nvSpPr>
          <p:cNvPr id="3" name="object_6454e0f2-db2b-4b0f-af15-81905a8ac9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素材是程序人工绘制的测试示意图，仅用于装饰，不证明任何事实。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本页图片仅作装饰，不承载数据或结论。</a:t>
            </a:r>
          </a:p>
        </p:txBody>
      </p:sp>
      <p:pic>
        <p:nvPicPr>
          <p:cNvPr id="4" name="object_ed4abf06-e682-43ad-bb05-abd7ba940826" descr="程序人工绘制的测试示意图，仅用于装饰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50208" y="1993392"/>
            <a:ext cx="7571231" cy="3785615"/>
          </a:xfrm>
          <a:prstGeom prst="rect">
            <a:avLst/>
          </a:prstGeom>
        </p:spPr>
      </p:pic>
      <p:sp>
        <p:nvSpPr>
          <p:cNvPr id="5" name="object_01dd1ccc-1e7b-4099-a951-95cad59774c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d5c733a-8b00-488f-9bcc-71a86557746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原文明示流程：三节点与箭头</a:t>
            </a:r>
          </a:p>
        </p:txBody>
      </p:sp>
      <p:sp>
        <p:nvSpPr>
          <p:cNvPr id="3" name="object_e894034d-c7ad-42c7-a84a-79e99ae2208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检查照明→设置定时→记录变化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</p:txBody>
      </p:sp>
      <p:sp>
        <p:nvSpPr>
          <p:cNvPr id="4" name="object_902ca510-50e0-4ded-907a-a45625477aeb"/>
          <p:cNvSpPr/>
          <p:nvPr/>
        </p:nvSpPr>
        <p:spPr>
          <a:xfrm>
            <a:off x="3950208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检查照明</a:t>
            </a:r>
          </a:p>
        </p:txBody>
      </p:sp>
      <p:sp>
        <p:nvSpPr>
          <p:cNvPr id="5" name="object_770b2a45-c7d9-45aa-b913-b48955ce6f5e"/>
          <p:cNvSpPr/>
          <p:nvPr/>
        </p:nvSpPr>
        <p:spPr>
          <a:xfrm>
            <a:off x="6473952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设置定时</a:t>
            </a:r>
          </a:p>
        </p:txBody>
      </p:sp>
      <p:sp>
        <p:nvSpPr>
          <p:cNvPr id="6" name="object_bee34b00-101d-43ff-8504-1347bc2daf6c"/>
          <p:cNvSpPr/>
          <p:nvPr/>
        </p:nvSpPr>
        <p:spPr>
          <a:xfrm>
            <a:off x="8997696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记录变化</a:t>
            </a:r>
          </a:p>
        </p:txBody>
      </p:sp>
      <p:cxnSp>
        <p:nvCxnSpPr>
          <p:cNvPr id="7" name="object_0d1e37cf-1473-4fe0-9cd6-081b564bff23" descr="sequence"/>
          <p:cNvCxnSpPr/>
          <p:nvPr/>
        </p:nvCxnSpPr>
        <p:spPr>
          <a:xfrm>
            <a:off x="6070152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bject_55e5be6b-49fc-4da4-b404-360d6177035e" descr="sequence"/>
          <p:cNvCxnSpPr/>
          <p:nvPr/>
        </p:nvCxnSpPr>
        <p:spPr>
          <a:xfrm>
            <a:off x="8593896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ject_323ac35d-9f26-4562-846d-2dc5d26acdf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334fab6-c459-4bb6-a60b-591e8575ba1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虚构测试数据：基线与本期并列</a:t>
            </a:r>
          </a:p>
        </p:txBody>
      </p:sp>
      <p:sp>
        <p:nvSpPr>
          <p:cNvPr id="3" name="object_1b1a7662-25a0-46fb-8a2d-eeef0368154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4b9d2f6d-ca5e-4802-8744-565c5bc13ba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0421f1-bd34-4716-b1bf-032251398c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aa55acf-4020-42a4-b6dd-bfddac2ac4b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虚构测试数据柱图：基线与本期</a:t>
            </a:r>
          </a:p>
        </p:txBody>
      </p:sp>
      <p:sp>
        <p:nvSpPr>
          <p:cNvPr id="3" name="object_6af4eaac-5c37-44b0-90d4-c016b4ce0b9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212d2db5-d8b2-483d-9868-5f1e3eabb81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da1e64a4-0b3d-447a-a8da-0f9a7d7b53c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f3e354a-fabb-499a-92f2-8593164b34f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结论：核对资料并按原文流程执行</a:t>
            </a:r>
          </a:p>
        </p:txBody>
      </p:sp>
      <p:sp>
        <p:nvSpPr>
          <p:cNvPr id="3" name="object_0bf9226c-6d35-471e-aca9-b54f44b6e0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结论是先核对资料、保留来源，再按原文明示流程执行。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基线与本期只做并列展示，不推断因果效果。</a:t>
            </a:r>
          </a:p>
        </p:txBody>
      </p:sp>
      <p:sp>
        <p:nvSpPr>
          <p:cNvPr id="4" name="object_7dcae490-3723-4b12-993b-479140f927d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虚构测试周照明用电演示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