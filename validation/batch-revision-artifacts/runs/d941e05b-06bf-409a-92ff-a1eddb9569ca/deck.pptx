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本期</c:v>
                </c:pt>
              </c:strCache>
            </c:strRef>
          </c:tx>
          <c:spPr>
            <a:solidFill>
              <a:srgbClr val="147C80"/>
            </a:solidFill>
            <a:ln>
              <a:solidFill>
                <a:srgbClr val="147C80"/>
              </a:solidFill>
            </a:ln>
          </c:spPr>
          <c:cat>
            <c:strRef>
              <c:f>Sheet1!$A$2:$A$4</c:f>
              <c:strCache>
                <c:ptCount val="3"/>
                <c:pt idx="0">
                  <c:v>A楼</c:v>
                </c:pt>
                <c:pt idx="1">
                  <c:v>B楼</c:v>
                </c:pt>
                <c:pt idx="2">
                  <c:v>C楼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</c:v>
                </c:pt>
                <c:pt idx="1">
                  <c:v>72</c:v>
                </c:pt>
                <c:pt idx="2">
                  <c:v>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基线</c:v>
                </c:pt>
              </c:strCache>
            </c:strRef>
          </c:tx>
          <c:spPr>
            <a:solidFill>
              <a:srgbClr val="D17D32"/>
            </a:solidFill>
            <a:ln>
              <a:solidFill>
                <a:srgbClr val="D17D32"/>
              </a:solidFill>
            </a:ln>
          </c:spPr>
          <c:cat>
            <c:strRef>
              <c:f>Sheet1!$A$2:$A$4</c:f>
              <c:strCache>
                <c:ptCount val="3"/>
                <c:pt idx="0">
                  <c:v>A楼</c:v>
                </c:pt>
                <c:pt idx="1">
                  <c:v>B楼</c:v>
                </c:pt>
                <c:pt idx="2">
                  <c:v>C楼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80</c:v>
                </c:pt>
                <c:pt idx="2">
                  <c:v>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600">
                    <a:latin typeface="Noto Sans CJK SC"/>
                  </a:defRPr>
                </a:pPr>
                <a:r>
                  <a:t>千瓦时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封面页。来源明确：测试数据单位为千瓦时，观察窗口为虚构测试周，统计对象为照明用电。本页只交代范围，不给出任何结论或因果。</a:t>
            </a:r>
          </a:p>
          <a:p/>
          <a:p>
            <a:r>
              <a:t>证据：</a:t>
            </a:r>
          </a:p>
          <a:p>
            <a:r>
              <a:t>evidence_31d66b61-ee64-4f26-800f-472bd40e1448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使用调用方已授权素材 asset_53df89e2-f082-4680-9411-8abc446ad30b（320×160 PNG，sha256 已校验）。来源明确该素材为程序人工绘制的测试示意图，仅用于装饰，不证明任何事实；图片语义未经独立复核，也未提取文字。</a:t>
            </a:r>
          </a:p>
          <a:p/>
          <a:p>
            <a:r>
              <a:t>证据：</a:t>
            </a:r>
          </a:p>
          <a:p>
            <a:r>
              <a:t>evidence_31d66b61-ee64-4f26-800f-472bd40e1448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节点与箭头逐字取自原文“检查照明→设置定时→记录变化”，两条顺序边均附原文引文。原文另给出各节点释义：检查照明指核对灯具与使用时段；设置定时指设置关灯规则；记录变化指记录照明用电。原文明确不得添加其他关系或因果。</a:t>
            </a:r>
          </a:p>
          <a:p/>
          <a:p>
            <a:r>
              <a:t>证据：</a:t>
            </a:r>
          </a:p>
          <a:p>
            <a:r>
              <a:t>evidence_5f4eff91-ebde-4001-a150-76782604e843</a:t>
            </a:r>
          </a:p>
          <a:p>
            <a:r>
              <a:t>evidence_31d66b61-ee64-4f26-800f-472bd40e1448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表格数值逐项取自原文：A楼基线100、本期90；B楼基线80、本期72；C楼基线60、本期54，单位均为千瓦时。原文明确基线与本期都是明确虚构的记录值，只做并列展示，不推断控制实验或因果效果。</a:t>
            </a:r>
          </a:p>
          <a:p/>
          <a:p>
            <a:r>
              <a:t>证据：</a:t>
            </a:r>
          </a:p>
          <a:p>
            <a:r>
              <a:t>evidence_31d66b61-ee64-4f26-800f-472bd40e1448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柱图数据与表格同源，均为原文明确虚构的记录值，单位千瓦时。原文要求只做并列展示，不推断控制实验或因果效果，因此不计算降幅、不标注趋势。</a:t>
            </a:r>
          </a:p>
          <a:p/>
          <a:p>
            <a:r>
              <a:t>证据：</a:t>
            </a:r>
          </a:p>
          <a:p>
            <a:r>
              <a:t>evidence_31d66b61-ee64-4f26-800f-472bd40e1448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论逐字取自原文“结论是先核对资料、保留来源，再按原文明示流程执行”。同时重申原文限制：不得添加其他关系或因果，这是软件测试示例；基线与本期都是明确虚构的记录值，只做并列展示，不推断控制实验或因果效果。</a:t>
            </a:r>
          </a:p>
          <a:p/>
          <a:p>
            <a:r>
              <a:t>证据：</a:t>
            </a:r>
          </a:p>
          <a:p>
            <a:r>
              <a:t>evidence_31d66b61-ee64-4f26-800f-472bd40e1448</a:t>
            </a:r>
          </a:p>
          <a:p>
            <a:r>
              <a:t>evidence_5f4eff91-ebde-4001-a150-76782604e843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30ee87cb-ab98-477a-b495-03603b016b76"/>
          <p:cNvSpPr txBox="1"/>
          <p:nvPr/>
        </p:nvSpPr>
        <p:spPr>
          <a:xfrm>
            <a:off x="640080" y="1234440"/>
            <a:ext cx="5852160" cy="3337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4000" b="1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虚构测试周照明用电演示</a:t>
            </a:r>
          </a:p>
        </p:txBody>
      </p:sp>
      <p:sp>
        <p:nvSpPr>
          <p:cNvPr id="3" name="object_7820b7c4-efa2-4920-ac8e-839abf375c45"/>
          <p:cNvSpPr txBox="1"/>
          <p:nvPr/>
        </p:nvSpPr>
        <p:spPr>
          <a:xfrm>
            <a:off x="6995160" y="1298448"/>
            <a:ext cx="4480560" cy="4480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测试数据单位为千瓦时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观察窗口为虚构测试周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统计对象为照明用电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全部数值为明确虚构的测试记录</a:t>
            </a:r>
          </a:p>
        </p:txBody>
      </p:sp>
      <p:sp>
        <p:nvSpPr>
          <p:cNvPr id="4" name="object_ca8ad434-ab97-4c43-8d20-57df1690b41e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49991dfe-ceea-4650-b99f-e439bbae1977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装饰素材：程序人工绘制测试示意图</a:t>
            </a:r>
          </a:p>
        </p:txBody>
      </p:sp>
      <p:sp>
        <p:nvSpPr>
          <p:cNvPr id="3" name="object_6454e0f2-db2b-4b0f-af15-81905a8ac907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素材是程序人工绘制的测试示意图，仅用于装饰，不证明任何事实。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本页图片仅作装饰，不承载数据或结论。</a:t>
            </a:r>
          </a:p>
        </p:txBody>
      </p:sp>
      <p:pic>
        <p:nvPicPr>
          <p:cNvPr id="4" name="object_ed4abf06-e682-43ad-bb05-abd7ba940826" descr="程序人工绘制的测试示意图，仅用于装饰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950208" y="1993392"/>
            <a:ext cx="7571231" cy="3785615"/>
          </a:xfrm>
          <a:prstGeom prst="rect">
            <a:avLst/>
          </a:prstGeom>
        </p:spPr>
      </p:pic>
      <p:sp>
        <p:nvSpPr>
          <p:cNvPr id="5" name="object_01dd1ccc-1e7b-4099-a951-95cad59774c6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bd5c733a-8b00-488f-9bcc-71a86557746f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原文明示流程：三节点与箭头</a:t>
            </a:r>
          </a:p>
        </p:txBody>
      </p:sp>
      <p:sp>
        <p:nvSpPr>
          <p:cNvPr id="3" name="object_e894034d-c7ad-42c7-a84a-79e99ae22083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检查照明→设置定时→记录变化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不得添加其他关系或因果；这是软件测试示例。</a:t>
            </a:r>
          </a:p>
        </p:txBody>
      </p:sp>
      <p:sp>
        <p:nvSpPr>
          <p:cNvPr id="4" name="object_902ca510-50e0-4ded-907a-a45625477aeb"/>
          <p:cNvSpPr/>
          <p:nvPr/>
        </p:nvSpPr>
        <p:spPr>
          <a:xfrm>
            <a:off x="3950208" y="1792224"/>
            <a:ext cx="2119944" cy="3015325"/>
          </a:xfrm>
          <a:prstGeom prst="roundRect">
            <a:avLst/>
          </a:prstGeom>
          <a:solidFill>
            <a:srgbClr val="FFFFFF"/>
          </a:solidFill>
          <a:ln>
            <a:solidFill>
              <a:srgbClr val="192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92C32"/>
                </a:solidFill>
                <a:latin typeface="Noto Sans CJK SC"/>
              </a:defRPr>
            </a:pPr>
            <a:r>
              <a:t>检查照明</a:t>
            </a:r>
          </a:p>
        </p:txBody>
      </p:sp>
      <p:sp>
        <p:nvSpPr>
          <p:cNvPr id="5" name="object_770b2a45-c7d9-45aa-b913-b48955ce6f5e"/>
          <p:cNvSpPr/>
          <p:nvPr/>
        </p:nvSpPr>
        <p:spPr>
          <a:xfrm>
            <a:off x="6473952" y="1792224"/>
            <a:ext cx="2119944" cy="3015325"/>
          </a:xfrm>
          <a:prstGeom prst="roundRect">
            <a:avLst/>
          </a:prstGeom>
          <a:solidFill>
            <a:srgbClr val="FFFFFF"/>
          </a:solidFill>
          <a:ln>
            <a:solidFill>
              <a:srgbClr val="192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92C32"/>
                </a:solidFill>
                <a:latin typeface="Noto Sans CJK SC"/>
              </a:defRPr>
            </a:pPr>
            <a:r>
              <a:t>设置定时</a:t>
            </a:r>
          </a:p>
        </p:txBody>
      </p:sp>
      <p:sp>
        <p:nvSpPr>
          <p:cNvPr id="6" name="object_bee34b00-101d-43ff-8504-1347bc2daf6c"/>
          <p:cNvSpPr/>
          <p:nvPr/>
        </p:nvSpPr>
        <p:spPr>
          <a:xfrm>
            <a:off x="8997696" y="1792224"/>
            <a:ext cx="2119944" cy="3015325"/>
          </a:xfrm>
          <a:prstGeom prst="roundRect">
            <a:avLst/>
          </a:prstGeom>
          <a:solidFill>
            <a:srgbClr val="FFFFFF"/>
          </a:solidFill>
          <a:ln>
            <a:solidFill>
              <a:srgbClr val="192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92C32"/>
                </a:solidFill>
                <a:latin typeface="Noto Sans CJK SC"/>
              </a:defRPr>
            </a:pPr>
            <a:r>
              <a:t>记录变化</a:t>
            </a:r>
          </a:p>
        </p:txBody>
      </p:sp>
      <p:cxnSp>
        <p:nvCxnSpPr>
          <p:cNvPr id="7" name="object_0d1e37cf-1473-4fe0-9cd6-081b564bff23" descr="sequence"/>
          <p:cNvCxnSpPr/>
          <p:nvPr/>
        </p:nvCxnSpPr>
        <p:spPr>
          <a:xfrm>
            <a:off x="6070152" y="3299886"/>
            <a:ext cx="403800" cy="0"/>
          </a:xfrm>
          <a:prstGeom prst="line">
            <a:avLst/>
          </a:prstGeom>
          <a:ln w="22860">
            <a:solidFill>
              <a:srgbClr val="147C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object_55e5be6b-49fc-4da4-b404-360d6177035e" descr="sequence"/>
          <p:cNvCxnSpPr/>
          <p:nvPr/>
        </p:nvCxnSpPr>
        <p:spPr>
          <a:xfrm>
            <a:off x="8593896" y="3299886"/>
            <a:ext cx="403800" cy="0"/>
          </a:xfrm>
          <a:prstGeom prst="line">
            <a:avLst/>
          </a:prstGeom>
          <a:ln w="22860">
            <a:solidFill>
              <a:srgbClr val="147C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bject_323ac35d-9f26-4562-846d-2dc5d26acdf2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0334fab6-c459-4bb6-a60b-591e8575ba12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虚构测试数据：基线与本期并列</a:t>
            </a:r>
          </a:p>
        </p:txBody>
      </p:sp>
      <p:sp>
        <p:nvSpPr>
          <p:cNvPr id="3" name="object_1b1a7662-25a0-46fb-8a2d-eeef03681543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基线与本期都是明确虚构的记录值，只做并列展示。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不推断控制实验或因果效果。</a:t>
            </a:r>
          </a:p>
        </p:txBody>
      </p:sp>
      <p:graphicFrame>
        <p:nvGraphicFramePr>
          <p:cNvPr id="4" name="object_4b9d2f6d-ca5e-4802-8744-565c5bc13ba0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3743"/>
                <a:gridCol w="2523743"/>
                <a:gridCol w="2523745"/>
              </a:tblGrid>
              <a:tr h="104698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楼栋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基线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本期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10469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A楼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90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10469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B楼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80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72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10469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C楼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60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54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bject_f00421f1-bd34-4716-b1bf-032251398c24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aaa55acf-4020-42a4-b6dd-bfddac2ac4b4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虚构测试数据柱图：基线与本期</a:t>
            </a:r>
          </a:p>
        </p:txBody>
      </p:sp>
      <p:sp>
        <p:nvSpPr>
          <p:cNvPr id="3" name="object_6af4eaac-5c37-44b0-90d4-c016b4ce0b90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基线与本期都是明确虚构的记录值，只做并列展示。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不推断控制实验或因果效果。</a:t>
            </a:r>
          </a:p>
        </p:txBody>
      </p:sp>
      <p:graphicFrame>
        <p:nvGraphicFramePr>
          <p:cNvPr id="4" name="object_212d2db5-d8b2-483d-9868-5f1e3eabb81c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object_da1e64a4-0b3d-447a-a8da-0f9a7d7b53c9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ef3e354a-fabb-499a-92f2-8593164b34f3"/>
          <p:cNvSpPr txBox="1"/>
          <p:nvPr/>
        </p:nvSpPr>
        <p:spPr>
          <a:xfrm>
            <a:off x="640080" y="1170432"/>
            <a:ext cx="466344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6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结论：先核对资料，再按原文流程执行</a:t>
            </a:r>
          </a:p>
        </p:txBody>
      </p:sp>
      <p:sp>
        <p:nvSpPr>
          <p:cNvPr id="3" name="object_0bf9226c-6d35-471e-aca9-b54f44b6e0fa"/>
          <p:cNvSpPr txBox="1"/>
          <p:nvPr/>
        </p:nvSpPr>
        <p:spPr>
          <a:xfrm>
            <a:off x="5852160" y="1133856"/>
            <a:ext cx="5669280" cy="4526280"/>
          </a:xfrm>
          <a:prstGeom prst="rect">
            <a:avLst/>
          </a:prstGeom>
          <a:solidFill>
            <a:srgbClr val="192C32"/>
          </a:solidFill>
          <a:ln>
            <a:noFill/>
          </a:ln>
        </p:spPr>
        <p:txBody>
          <a:bodyPr wrap="square" lIns="256032" rIns="256032" tIns="256032" bIns="256032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结论是先核对资料、保留来源，再按原文明示流程执行。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不得添加其他关系或因果；这是软件测试示例。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基线与本期只做并列展示，不推断因果效果。</a:t>
            </a:r>
          </a:p>
        </p:txBody>
      </p:sp>
      <p:sp>
        <p:nvSpPr>
          <p:cNvPr id="4" name="object_7dcae490-3723-4b12-993b-479140f927d3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虚构测试周照明用电演示</dc:title>
  <dc:subject/>
  <dc:creator>YoloongPPT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