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示例月基线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</c:v>
                </c:pt>
                <c:pt idx="1">
                  <c:v>9000</c:v>
                </c:pt>
                <c:pt idx="2">
                  <c:v>8000</c:v>
                </c:pt>
                <c:pt idx="3">
                  <c:v>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试点月目标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10000</c:v>
                </c:pt>
                <c:pt idx="1">
                  <c:v>8000</c:v>
                </c:pt>
                <c:pt idx="2">
                  <c:v>7000</c:v>
                </c:pt>
                <c:pt idx="3">
                  <c:v>5500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来源明确本文数据为演示示例，不是某所学校的真实观测、投资承诺或已经实现的节能效果。</a:t>
            </a:r>
          </a:p>
          <a:p/>
          <a:p>
            <a:r>
              <a:t>证据：</a:t>
            </a:r>
          </a:p>
          <a:p>
            <a:r>
              <a:t>evidence_beb36677-c4b2-44c8-93c6-ccff0f377b3c</a:t>
            </a:r>
          </a:p>
          <a:p>
            <a:r>
              <a:t>evidence_f002b6e0-bc93-4682-9452-f1aa8373d6fa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原文核心建议强调基线、小范围改造、安全与体验确认，以及不能仅凭月度总量认定因果效果。</a:t>
            </a:r>
          </a:p>
          <a:p/>
          <a:p>
            <a:r>
              <a:t>证据：</a:t>
            </a:r>
          </a:p>
          <a:p>
            <a:r>
              <a:t>evidence_ec229098-0a7a-4954-94ec-6763e028d16f</a:t>
            </a:r>
          </a:p>
          <a:p>
            <a:r>
              <a:t>evidence_fb653380-d447-46ef-93a4-d541670407d0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原文明确试点覆盖四个区域，比较区间为一个示例月份，并列出首批工作和安全排除范围。</a:t>
            </a:r>
          </a:p>
          <a:p/>
          <a:p>
            <a:r>
              <a:t>证据：</a:t>
            </a:r>
          </a:p>
          <a:p>
            <a:r>
              <a:t>evidence_e3c959e4-7e86-488c-8319-6ee5934e2e0c</a:t>
            </a:r>
          </a:p>
          <a:p>
            <a:r>
              <a:t>evidence_f5c77227-162d-4b11-810a-da4fcd977b13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原文强调表格中的基线和目标仅用于说明数据组织方法，目标是计划值，尚未实现。</a:t>
            </a:r>
          </a:p>
          <a:p/>
          <a:p>
            <a:r>
              <a:t>证据：</a:t>
            </a:r>
          </a:p>
          <a:p>
            <a:r>
              <a:t>evidence_4b154e79-e993-4c0e-a0b6-1032055ddf8a</a:t>
            </a:r>
          </a:p>
          <a:p>
            <a:r>
              <a:t>evidence_b5b70e95-81ea-46bb-9cdc-db32a4b177e0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表格数据来自原文，单位统一为千瓦时；目标是计划值，不能作为改造后的实际测量。</a:t>
            </a:r>
          </a:p>
          <a:p/>
          <a:p>
            <a:r>
              <a:t>证据：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原文建议可用原生柱状图并列展示各区域示例基线与目标，纵轴必须标为千瓦时，系列名称明确区分基线和目标。</a:t>
            </a:r>
          </a:p>
          <a:p/>
          <a:p>
            <a:r>
              <a:t>证据：</a:t>
            </a:r>
          </a:p>
          <a:p>
            <a:r>
              <a:t>evidence_f409bfbb-aeaf-4a1c-b098-7d76b15c9b28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原文指出总用电受多种因素影响，不能只凭两个数值认定节能率或项目收益，且本文没有提供真实节能率和投资回收期。</a:t>
            </a:r>
          </a:p>
          <a:p/>
          <a:p>
            <a:r>
              <a:t>证据：</a:t>
            </a:r>
          </a:p>
          <a:p>
            <a:r>
              <a:t>evidence_4744b9eb-d0b9-477f-8b09-16124000baba</a:t>
            </a:r>
          </a:p>
          <a:p>
            <a:r>
              <a:t>evidence_f409bfbb-aeaf-4a1c-b098-7d76b15c9b28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原文列出照明措施、管理措施、自动控制要求和设备更换注意事项。</a:t>
            </a:r>
          </a:p>
          <a:p/>
          <a:p>
            <a:r>
              <a:t>证据：</a:t>
            </a:r>
          </a:p>
          <a:p>
            <a:r>
              <a:t>evidence_e83ca342-86a9-40bc-a018-f4f2c0235e75</a:t>
            </a:r>
          </a:p>
          <a:p>
            <a:r>
              <a:t>evidence_5a1bdd2f-6c7b-42ab-bb75-7c2542d6e2e1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原文按准备、试点、观察、复盘四个阶段说明实施安排。</a:t>
            </a:r>
          </a:p>
          <a:p/>
          <a:p>
            <a:r>
              <a:t>证据：</a:t>
            </a:r>
          </a:p>
          <a:p>
            <a:r>
              <a:t>evidence_4b548541-cdd4-4b39-844f-b241f4aee7c0</a:t>
            </a:r>
          </a:p>
          <a:p>
            <a:r>
              <a:t>evidence_d449b4dc-e2a9-4fb1-a5ec-fbe282042601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原文说明所有角色是建议分工，不是已经设立的组织；风险与限制包括照明体验、误关和统计口径变化；下一步是确认范围与负责人、补齐真实基线、执行可恢复试点。</a:t>
            </a:r>
          </a:p>
          <a:p/>
          <a:p>
            <a:r>
              <a:t>证据：</a:t>
            </a:r>
          </a:p>
          <a:p>
            <a:r>
              <a:t>evidence_23cdd550-70f1-41f9-88a5-06c86b3c0313</a:t>
            </a:r>
          </a:p>
          <a:p>
            <a:r>
              <a:t>evidence_0a729c6d-3810-477e-887c-3c42842d34eb</a:t>
            </a:r>
          </a:p>
          <a:p>
            <a:r>
              <a:t>evidence_be54dbcb-a86f-4d98-b178-d306d93aafd4</a:t>
            </a:r>
          </a:p>
          <a:p>
            <a:r>
              <a:t>evidence_11156959-029f-471f-939e-a89f46e544b8</a:t>
            </a:r>
          </a:p>
          <a:p>
            <a:r>
              <a:t>evidence_039f3317-cde9-4994-9908-d350156ec0f8</a:t>
            </a:r>
          </a:p>
          <a:p>
            <a:r>
              <a:t>evidence_47d4e1c7-77cb-44e6-b1d1-88b2bd4c3226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3486e9e-c4b1-4bb8-bdb5-c2eb894da0e0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校园节能试点：示例数据与实施方案</a:t>
            </a:r>
          </a:p>
        </p:txBody>
      </p:sp>
      <p:sp>
        <p:nvSpPr>
          <p:cNvPr id="3" name="object_3e5593cb-15fa-4386-bc03-75e89d161cd7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本文全部数据为演示系统验证用示例，非真实观测或已实现效果。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面向学校管理团队组织约10页中文汇报，保留数据性质和单位。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不要把目标写成结果。</a:t>
            </a:r>
          </a:p>
        </p:txBody>
      </p:sp>
      <p:sp>
        <p:nvSpPr>
          <p:cNvPr id="4" name="object_9110e136-dd46-4ca7-8b0b-4c60dfdb3b06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01  /  10  ·  来源索引见备注及ObjectMap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23e9e11-8e4f-4b41-9e9a-9688ee25b600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核心建议：先基线，再小范围验证</a:t>
            </a:r>
          </a:p>
        </p:txBody>
      </p:sp>
      <p:sp>
        <p:nvSpPr>
          <p:cNvPr id="3" name="object_94a8f070-f344-477d-978c-d28573f86ad8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先建立清楚的用电基线，再小范围改造与测量。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确认安全和使用体验后，再考虑扩大。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节能需设备、使用方式和管理流程共同配合。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单看月度总量不能证明改造产生因果效果。</a:t>
            </a:r>
          </a:p>
        </p:txBody>
      </p:sp>
      <p:sp>
        <p:nvSpPr>
          <p:cNvPr id="4" name="object_e9476d29-03a0-4cb5-b08b-4332ea5057cc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02  /  10  ·  来源索引见备注及ObjectMap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56bfc4a-6f84-4b1a-9bfd-f43f28293a61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试点范围与安全边界</a:t>
            </a:r>
          </a:p>
        </p:txBody>
      </p:sp>
      <p:sp>
        <p:nvSpPr>
          <p:cNvPr id="3" name="object_436c6fc0-50fe-4a26-bac2-ba6c72a889bf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覆盖教学楼A、教学楼B、图书馆和体育馆。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比较区间统一为一个示例月份。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首批工作为教学楼照明与公共区域控制。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实验室、消防和应急照明不进入自动断电范围。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范围扩大前必须重新检查安全要求。</a:t>
            </a:r>
          </a:p>
        </p:txBody>
      </p:sp>
      <p:sp>
        <p:nvSpPr>
          <p:cNvPr id="4" name="object_847e544c-0be2-43a5-b9f6-586b6e21893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03  /  10  ·  来源索引见备注及ObjectMap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9abf4ab-91c1-410f-9f01-57f449f66171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示例基线与目标：仅说明数据组织方法</a:t>
            </a:r>
          </a:p>
        </p:txBody>
      </p:sp>
      <p:sp>
        <p:nvSpPr>
          <p:cNvPr id="3" name="object_21483a60-0c5f-4b72-b1ce-6c5e8fdde779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基线和目标仅用于说明数据组织方法，单位统一为千瓦时。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目标是计划值，尚未实现，不能作为改造后实际测量。</a:t>
            </a:r>
          </a:p>
        </p:txBody>
      </p:sp>
      <p:sp>
        <p:nvSpPr>
          <p:cNvPr id="4" name="object_a1594c98-9b4e-49b1-a1b6-e6106a6f877e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04  /  10  ·  来源索引见备注及ObjectMap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066122b-2bf7-4a0e-9047-9a9bb63e751e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各区域示例月基线与试点月目标</a:t>
            </a:r>
          </a:p>
        </p:txBody>
      </p:sp>
      <p:sp>
        <p:nvSpPr>
          <p:cNvPr id="3" name="object_ae734045-0e40-42e5-adfc-93b1aa113ec6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数据为演示示例，单位千瓦时；目标为计划值，尚未实现。</a:t>
            </a:r>
          </a:p>
        </p:txBody>
      </p:sp>
      <p:graphicFrame>
        <p:nvGraphicFramePr>
          <p:cNvPr id="4" name="object_79c3beee-d55b-4812-9c4e-8919a9d6081e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126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示例月基线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试点月目标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教学楼A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教学楼B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图书馆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体育馆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5500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aacd1257-fce4-4477-bf91-bb341302596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05  /  10  ·  来源索引见备注及ObjectMap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6068b69-432d-41f8-839e-42a9b85b9a40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示例基线与目标对比图</a:t>
            </a:r>
          </a:p>
        </p:txBody>
      </p:sp>
      <p:sp>
        <p:nvSpPr>
          <p:cNvPr id="3" name="object_6f9ee3ed-8921-4987-9231-821a52285f78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纵轴单位为千瓦时，系列区分基线与目标。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图表仅展示示例数据，不代表真实节能效果。</a:t>
            </a:r>
          </a:p>
        </p:txBody>
      </p:sp>
      <p:graphicFrame>
        <p:nvGraphicFramePr>
          <p:cNvPr id="4" name="object_c0c3c6fa-0035-485b-9d26-2283db34f59b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5275713c-f805-4114-b62f-fd0d581f8de3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06  /  10  ·  来源索引见备注及ObjectMap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7de8b1d-ff07-4f7b-b98d-97b9984dc3d6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数据解读：不能只凭两个数值认定节能率</a:t>
            </a:r>
          </a:p>
        </p:txBody>
      </p:sp>
      <p:sp>
        <p:nvSpPr>
          <p:cNvPr id="3" name="object_119a203a-1c38-4afd-abd4-335038b51605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总用电受开放时间、人员规模、天气和活动安排影响。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不能只凭两个数值认定节能率或项目收益。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本文没有提供真实节能率和投资回收期。</a:t>
            </a:r>
          </a:p>
        </p:txBody>
      </p:sp>
      <p:sp>
        <p:nvSpPr>
          <p:cNvPr id="4" name="object_b68a9492-889c-4142-8e57-385b1b8a2156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07  /  10  ·  来源索引见备注及ObjectMap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ca18ebe-bb5c-4fc8-8eca-60be1b25508d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改造措施：照明、管理与设备</a:t>
            </a:r>
          </a:p>
        </p:txBody>
      </p:sp>
      <p:sp>
        <p:nvSpPr>
          <p:cNvPr id="3" name="object_9d3df83b-c3d8-4be5-9fe7-81265075c8fb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照明措施：检查空置时段、分区控制、自然采光配合、维护故障灯具。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管理措施：巡查记录、异常反馈和负责人确认。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自动控制应允许人工覆盖，并保留应急照明。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设备更换需结合现有设施实际情况，不能从示例数据推定品牌或采购价格。</a:t>
            </a:r>
          </a:p>
        </p:txBody>
      </p:sp>
      <p:sp>
        <p:nvSpPr>
          <p:cNvPr id="4" name="object_56ae0724-0402-4a0f-ab04-1862bb9c2732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08  /  10  ·  来源索引见备注及ObjectMap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91f97306-2991-4ad3-a9ba-bf2f988067aa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实施安排：准备、试点、观察、复盘</a:t>
            </a:r>
          </a:p>
        </p:txBody>
      </p:sp>
      <p:sp>
        <p:nvSpPr>
          <p:cNvPr id="3" name="object_ec4845d3-d003-44a2-9236-f94119d599dc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准备阶段：完成设施清单、基线记录和安全检查。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试点阶段：按区域逐步实施，保留原设置以便恢复。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观察阶段：对比相同口径数据，记录开放时长与活动变化。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复盘阶段：检查能耗、照明体验、安全反馈和维护负担，再决定继续、调整或停止。</a:t>
            </a:r>
          </a:p>
        </p:txBody>
      </p:sp>
      <p:sp>
        <p:nvSpPr>
          <p:cNvPr id="4" name="object_3ab91300-6569-4575-901e-eb44947d0518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09  /  10  ·  来源索引见备注及ObjectMap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9d5cbb7-5d8e-4951-8b99-0cdf00613317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责任分工、风险限制与下一步</a:t>
            </a:r>
          </a:p>
        </p:txBody>
      </p:sp>
      <p:sp>
        <p:nvSpPr>
          <p:cNvPr id="3" name="object_dbac52b7-d044-440d-9adb-42fe14085ce6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建议分工：后勤负责设施与安全；使用部门确认开放与体验；数据负责人统一口径；协调人组织复盘。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风险：设备改造可能影响照明体验；过度自动化可能误关；统计口径变化可能制造虚假改善。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应建立人工恢复、特殊活动例外和一致数据记录。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下一步：确认现场范围与负责人，补齐真实基线，执行可恢复试点。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缺少真实对照与现场测量时，结论应保持待验证。</a:t>
            </a:r>
          </a:p>
        </p:txBody>
      </p:sp>
      <p:sp>
        <p:nvSpPr>
          <p:cNvPr id="4" name="object_2efe6e15-5bdb-41d3-a845-845bcc155c1b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10  /  10  ·  来源索引见备注及ObjectMap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校园节能试点：示例数据与实施方案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