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示例月基线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</c:v>
                </c:pt>
                <c:pt idx="1">
                  <c:v>9000</c:v>
                </c:pt>
                <c:pt idx="2">
                  <c:v>8000</c:v>
                </c:pt>
                <c:pt idx="3">
                  <c:v>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试点月目标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10000</c:v>
                </c:pt>
                <c:pt idx="1">
                  <c:v>8000</c:v>
                </c:pt>
                <c:pt idx="2">
                  <c:v>7000</c:v>
                </c:pt>
                <c:pt idx="3">
                  <c:v>5500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来源：核心建议段落。原文强调先基线、小范围改造与测量，确认安全和使用体验后再扩大；单看月度总量不能证明因果效果。</a:t>
            </a:r>
          </a:p>
          <a:p/>
          <a:p>
            <a:r>
              <a:t>证据：</a:t>
            </a:r>
          </a:p>
          <a:p>
            <a:r>
              <a:t>evidence_ec229098-0a7a-4954-94ec-6763e028d16f</a:t>
            </a:r>
          </a:p>
          <a:p>
            <a:r>
              <a:t>evidence_fb653380-d447-46ef-93a4-d541670407d0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来源：试点范围段落。原文明确覆盖四个区域、统一示例月份、首批工作内容及自动断电排除范围。</a:t>
            </a:r>
          </a:p>
          <a:p/>
          <a:p>
            <a:r>
              <a:t>证据：</a:t>
            </a:r>
          </a:p>
          <a:p>
            <a:r>
              <a:t>evidence_e3c959e4-7e86-488c-8319-6ee5934e2e0c</a:t>
            </a:r>
          </a:p>
          <a:p>
            <a:r>
              <a:t>evidence_f5c77227-162d-4b11-810a-da4fcd977b13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来源：示例基线与目标段落及表格。原文说明表格中的基线和目标仅用于说明数据组织方法，单位统一为千瓦时；目标是计划值，尚未实现。</a:t>
            </a:r>
          </a:p>
          <a:p/>
          <a:p>
            <a:r>
              <a:t>证据：</a:t>
            </a:r>
          </a:p>
          <a:p>
            <a:r>
              <a:t>evidence_4b154e79-e993-4c0e-a0b6-1032055ddf8a</a:t>
            </a:r>
          </a:p>
          <a:p>
            <a:r>
              <a:t>evidence_b5b70e95-81ea-46bb-9cdc-db32a4b177e0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来源：数据解读段落。原文建议用原生柱状图并列展示各区域示例基线与目标，纵轴标为千瓦时，系列名称明确区分基线和目标；并提醒总用电受多种因素影响，不能只凭两个数值认定节能率或项目收益。</a:t>
            </a:r>
          </a:p>
          <a:p/>
          <a:p>
            <a:r>
              <a:t>证据：</a:t>
            </a:r>
          </a:p>
          <a:p>
            <a:r>
              <a:t>evidence_4744b9eb-d0b9-477f-8b09-16124000baba</a:t>
            </a:r>
          </a:p>
          <a:p>
            <a:r>
              <a:t>evidence_f409bfbb-aeaf-4a1c-b098-7d76b15c9b28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来源：数据解读段落。原文明确总用电受多种因素影响，不能只凭两个数值认定节能率或项目收益，且本文没有提供真实节能率和投资回收期。</a:t>
            </a:r>
          </a:p>
          <a:p/>
          <a:p>
            <a:r>
              <a:t>证据：</a:t>
            </a:r>
          </a:p>
          <a:p>
            <a:r>
              <a:t>evidence_4744b9eb-d0b9-477f-8b09-16124000baba</a:t>
            </a:r>
          </a:p>
          <a:p>
            <a:r>
              <a:t>evidence_f409bfbb-aeaf-4a1c-b098-7d76b15c9b28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来源：改造措施段落。原文列出照明措施、管理措施、自动控制原则，并强调设备更换需结合现有设施实际情况，不能从示例数据直接推定品牌或采购价格。</a:t>
            </a:r>
          </a:p>
          <a:p/>
          <a:p>
            <a:r>
              <a:t>证据：</a:t>
            </a:r>
          </a:p>
          <a:p>
            <a:r>
              <a:t>evidence_e83ca342-86a9-40bc-a018-f4f2c0235e75</a:t>
            </a:r>
          </a:p>
          <a:p>
            <a:r>
              <a:t>evidence_5a1bdd2f-6c7b-42ab-bb75-7c2542d6e2e1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来源：实施安排与责任分工段落。原文描述准备、试点、观察、复盘四阶段，以及后勤团队、使用部门、数据负责人和项目协调人的建议分工，并明确所有角色是建议分工，不是已经设立的组织。</a:t>
            </a:r>
          </a:p>
          <a:p/>
          <a:p>
            <a:r>
              <a:t>证据：</a:t>
            </a:r>
          </a:p>
          <a:p>
            <a:r>
              <a:t>evidence_4b548541-cdd4-4b39-844f-b241f4aee7c0</a:t>
            </a:r>
          </a:p>
          <a:p>
            <a:r>
              <a:t>evidence_d449b4dc-e2a9-4fb1-a5ec-fbe282042601</a:t>
            </a:r>
          </a:p>
          <a:p>
            <a:r>
              <a:t>evidence_23cdd550-70f1-41f9-88a5-06c86b3c0313</a:t>
            </a:r>
          </a:p>
          <a:p>
            <a:r>
              <a:t>evidence_0a729c6d-3810-477e-887c-3c42842d34eb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风险与限制、验证与下一步段落。原文列出设备改造、过度自动化、统计口径变化等风险，以及人工恢复、特殊活动例外、一致数据记录等应对；并说明试点结束后应检查设施安全、可用性、能耗记录与使用反馈，下一步是确认现场范围与负责人、补齐真实基线、执行可恢复试点。</a:t>
            </a:r>
          </a:p>
          <a:p/>
          <a:p>
            <a:r>
              <a:t>证据：</a:t>
            </a:r>
          </a:p>
          <a:p>
            <a:r>
              <a:t>evidence_be54dbcb-a86f-4d98-b178-d306d93aafd4</a:t>
            </a:r>
          </a:p>
          <a:p>
            <a:r>
              <a:t>evidence_11156959-029f-471f-939e-a89f46e544b8</a:t>
            </a:r>
          </a:p>
          <a:p>
            <a:r>
              <a:t>evidence_039f3317-cde9-4994-9908-d350156ec0f8</a:t>
            </a:r>
          </a:p>
          <a:p>
            <a:r>
              <a:t>evidence_47d4e1c7-77cb-44e6-b1d1-88b2bd4c3226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f4e4f14c-9f13-43c4-a4b2-943a56fc7e7d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核心建议：先基线，后试点</a:t>
            </a:r>
          </a:p>
        </p:txBody>
      </p:sp>
      <p:sp>
        <p:nvSpPr>
          <p:cNvPr id="3" name="object_7b92fdd3-0304-4a6f-9765-a68df323ecd1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先建立清楚的用电基线，再小范围改造与测量。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确认安全和使用体验后，再考虑扩大范围。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节能需设备、使用方式和管理流程共同配合。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单看月度总量不能证明改造产生因果效果。</a:t>
            </a:r>
          </a:p>
        </p:txBody>
      </p:sp>
      <p:sp>
        <p:nvSpPr>
          <p:cNvPr id="4" name="object_690b439c-a0d6-4c91-b5bb-cdc005324ae2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01  /  08  ·  来源索引见备注及ObjectMap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3649118-503d-4866-8bc5-122a4222178d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试点范围与首批工作</a:t>
            </a:r>
          </a:p>
        </p:txBody>
      </p:sp>
      <p:sp>
        <p:nvSpPr>
          <p:cNvPr id="3" name="object_a0a7dc86-be62-4173-bade-8948a2a5e83f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覆盖教学楼A、教学楼B、图书馆和体育馆。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比较区间统一为一个示例月份。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首批工作为教学楼照明与公共区域控制。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实验室、消防和应急照明不进入自动断电范围。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范围扩大前必须重新检查安全要求。</a:t>
            </a:r>
          </a:p>
        </p:txBody>
      </p:sp>
      <p:sp>
        <p:nvSpPr>
          <p:cNvPr id="4" name="object_b8a95dc9-1669-4d7d-96a9-35f61bfcacd5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02  /  08  ·  来源索引见备注及ObjectMap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f11d657-c9e7-4b5f-a5f5-a94bdc75fdee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示例基线与目标（单位：千瓦时）</a:t>
            </a:r>
          </a:p>
        </p:txBody>
      </p:sp>
      <p:sp>
        <p:nvSpPr>
          <p:cNvPr id="3" name="object_96bcff30-ac56-424c-992b-146d84c96269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基线和目标仅用于说明数据组织方法。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目标是计划值，尚未实现，不能作为实际测量。</a:t>
            </a:r>
          </a:p>
        </p:txBody>
      </p:sp>
      <p:graphicFrame>
        <p:nvGraphicFramePr>
          <p:cNvPr id="4" name="object_5985d74b-8679-4b94-a996-a2bd1a84d3ca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126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示例月基线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试点月目标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教学楼A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教学楼B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图书馆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体育馆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5500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0d53b0f4-d1a6-4f41-b7ee-6a738029de42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03  /  08  ·  来源索引见备注及ObjectMap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ef63e89-5fb0-4c0b-ad61-5c5ee58e4206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示例基线与目标对比图</a:t>
            </a:r>
          </a:p>
        </p:txBody>
      </p:sp>
      <p:sp>
        <p:nvSpPr>
          <p:cNvPr id="3" name="object_de00519e-4b65-4a62-a646-5888a91f8a47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纵轴单位为千瓦时，系列区分基线与目标。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总用电受开放时间、人员规模、天气和活动安排影响。</a:t>
            </a:r>
          </a:p>
        </p:txBody>
      </p:sp>
      <p:graphicFrame>
        <p:nvGraphicFramePr>
          <p:cNvPr id="4" name="object_b0299dab-9c61-46e9-81d3-75ae310f2371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55a70f38-77ae-45fd-9ae4-8b33e8415a20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04  /  08  ·  来源索引见备注及ObjectMap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72f1799-8060-48d4-bc9f-57950ccd562e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数据解读：不能只凭两个数值下结论</a:t>
            </a:r>
          </a:p>
        </p:txBody>
      </p:sp>
      <p:sp>
        <p:nvSpPr>
          <p:cNvPr id="3" name="object_9bdeeade-30f5-4430-800a-36b2087b93e4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总用电受开放时间、人员规模、天气和活动安排影响。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不能只凭两个数值认定节能率或项目收益。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本文没有提供真实节能率和投资回收期。</a:t>
            </a:r>
          </a:p>
        </p:txBody>
      </p:sp>
      <p:sp>
        <p:nvSpPr>
          <p:cNvPr id="4" name="object_35736d62-046d-431a-84d0-9f23a9d01815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05  /  08  ·  来源索引见备注及ObjectMap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330c1c5-c8c8-4881-8083-55c9fecaad88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改造措施：照明与管理并重</a:t>
            </a:r>
          </a:p>
        </p:txBody>
      </p:sp>
      <p:sp>
        <p:nvSpPr>
          <p:cNvPr id="3" name="object_cfe31f45-df0d-41b0-84a3-c06a965771e8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照明措施：检查空置时段、分区控制、自然采光配合、维护故障灯具。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管理措施：巡查记录、异常反馈和负责人确认。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自动控制应允许人工覆盖，并保留应急照明。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设备更换需结合现有设施实际，不能从示例数据推定品牌或采购价格。</a:t>
            </a:r>
          </a:p>
        </p:txBody>
      </p:sp>
      <p:sp>
        <p:nvSpPr>
          <p:cNvPr id="4" name="object_19ab8568-e5d1-4e49-9464-a53745d1ba4c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06  /  08  ·  来源索引见备注及ObjectMap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58ceff2-f1b2-488b-9b3b-c3b4a3b7c46e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实施安排与责任分工</a:t>
            </a:r>
          </a:p>
        </p:txBody>
      </p:sp>
      <p:sp>
        <p:nvSpPr>
          <p:cNvPr id="3" name="object_f13a3b26-8b75-47dd-b6af-da05dba1c744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准备阶段：设施清单、基线记录和安全检查。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试点阶段：按区域逐步实施，保留原设置以便恢复。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观察阶段：对比相同口径数据，记录开放时长与活动变化。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复盘阶段：检查能耗、照明体验、安全反馈和维护负担。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后勤、使用部门、数据负责人和项目协调人分工协作。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所有角色是建议分工，不是已经设立的组织。</a:t>
            </a:r>
          </a:p>
        </p:txBody>
      </p:sp>
      <p:sp>
        <p:nvSpPr>
          <p:cNvPr id="4" name="object_e28c279d-23e5-4030-a01d-3383c415e0ec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07  /  08  ·  来源索引见备注及ObjectMap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948e82e-9221-4e6b-872a-0b9a8e9558c5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风险限制与验证下一步</a:t>
            </a:r>
          </a:p>
        </p:txBody>
      </p:sp>
      <p:sp>
        <p:nvSpPr>
          <p:cNvPr id="3" name="object_b1ef63c1-ee69-4fad-9b0d-64a96e24d8bc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设备改造可能影响照明体验；过度自动化可能造成误关。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统计口径变化可能制造虚假的节能改善。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应建立人工恢复方式、特殊活动例外和一致的数据记录。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缺少真实对照与现场测量时，结论应保持待验证。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试点结束后检查安全、可用性、能耗记录与使用反馈。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下一步：确认现场范围与负责人，补齐真实基线，执行可恢复试点。</a:t>
            </a:r>
          </a:p>
        </p:txBody>
      </p:sp>
      <p:sp>
        <p:nvSpPr>
          <p:cNvPr id="4" name="object_6b856d81-3b68-4880-b216-7c776eaf1d2a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08  /  08  ·  来源索引见备注及ObjectMap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校园节能试点：示例数据与实施方案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