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原文明确给出试点结果与责任部门。8%为调用方已选来源值，另一来源曾给出9%，此处按已选来源呈现。</a:t>
            </a:r>
          </a:p>
          <a:p/>
          <a:p>
            <a:r>
              <a:t>证据：</a:t>
            </a:r>
          </a:p>
          <a:p>
            <a:r>
              <a:t>evidence_48325ac1-5777-458e-8158-2c56de26e3bd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两个来源均支持总务处为责任部门，属于一致事实。</a:t>
            </a:r>
          </a:p>
          <a:p/>
          <a:p>
            <a:r>
              <a:t>证据：</a:t>
            </a:r>
          </a:p>
          <a:p>
            <a:r>
              <a:t>evidence_48325ac1-5777-458e-8158-2c56de26e3bd</a:t>
            </a:r>
          </a:p>
          <a:p>
            <a:r>
              <a:t>evidence_43906f30-8a0e-4f40-a808-b42947f564b9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原文直接给出后续工作方向，未涉及具体时间表或新增指标。</a:t>
            </a:r>
          </a:p>
          <a:p/>
          <a:p>
            <a:r>
              <a:t>证据：</a:t>
            </a:r>
          </a:p>
          <a:p>
            <a:r>
              <a:t>evidence_48325ac1-5777-458e-8158-2c56de26e3bd</a:t>
            </a:r>
          </a:p>
          <a:p>
            <a:r>
              <a:t>evidence_43906f30-8a0e-4f40-a808-b42947f564b9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调用方优先级已选定8%为采用值；9%为被否决值，不用于正文结论。</a:t>
            </a:r>
          </a:p>
          <a:p/>
          <a:p>
            <a:r>
              <a:t>证据：</a:t>
            </a:r>
          </a:p>
          <a:p>
            <a:r>
              <a:t>evidence_48325ac1-5777-458e-8158-2c56de26e3bd</a:t>
            </a:r>
          </a:p>
          <a:p>
            <a:r>
              <a:t>evidence_43906f30-8a0e-4f40-a808-b42947f564b9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189a3980-badf-4787-82a8-0da1da8ead6b"/>
          <p:cNvSpPr txBox="1"/>
          <p:nvPr/>
        </p:nvSpPr>
        <p:spPr>
          <a:xfrm>
            <a:off x="640080" y="1234440"/>
            <a:ext cx="585216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试点核心结论</a:t>
            </a:r>
          </a:p>
        </p:txBody>
      </p:sp>
      <p:sp>
        <p:nvSpPr>
          <p:cNvPr id="3" name="object_f0279fbe-5800-4f90-8216-90c1cc7b431d"/>
          <p:cNvSpPr txBox="1"/>
          <p:nvPr/>
        </p:nvSpPr>
        <p:spPr>
          <a:xfrm>
            <a:off x="6995160" y="1298448"/>
            <a:ext cx="448056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学校节能试点：2026年降低能耗8%。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项目由总务处负责。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口径：同一学校、同一年度、同一口径的试点结果。</a:t>
            </a:r>
          </a:p>
        </p:txBody>
      </p:sp>
      <p:sp>
        <p:nvSpPr>
          <p:cNvPr id="4" name="object_94472219-838d-470f-aec5-1f28acd8800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0b41c2ce-e0e8-4ca3-8f29-3f17314e408a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责任部门与项目归属</a:t>
            </a:r>
          </a:p>
        </p:txBody>
      </p:sp>
      <p:sp>
        <p:nvSpPr>
          <p:cNvPr id="3" name="object_dfe111d0-2061-476a-b9d4-15e973e4db07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项目由总务处负责。</a:t>
            </a:r>
          </a:p>
        </p:txBody>
      </p:sp>
      <p:sp>
        <p:nvSpPr>
          <p:cNvPr id="4" name="object_d9cd6711-6ec8-4800-b203-02d6aff53e49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总务处为项目责任部门。</a:t>
            </a:r>
          </a:p>
        </p:txBody>
      </p:sp>
      <p:sp>
        <p:nvSpPr>
          <p:cNvPr id="5" name="object_7d1d31db-90fa-4a21-9eb9-2cab20c2a912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23e676a-233d-4254-bbd1-5d1563b9da70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后续工作安排</a:t>
            </a:r>
          </a:p>
        </p:txBody>
      </p:sp>
      <p:sp>
        <p:nvSpPr>
          <p:cNvPr id="3" name="object_4530f103-92f3-4c7b-aa8d-83c918a46ab9"/>
          <p:cNvSpPr txBox="1"/>
          <p:nvPr/>
        </p:nvSpPr>
        <p:spPr>
          <a:xfrm>
            <a:off x="658368" y="1828800"/>
            <a:ext cx="10835640" cy="3977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下一步继续监测能耗并复核记录。</a:t>
            </a:r>
          </a:p>
        </p:txBody>
      </p:sp>
      <p:sp>
        <p:nvSpPr>
          <p:cNvPr id="4" name="object_068f64ba-85c0-43ed-b4e7-19898d4c220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b3cc87d3-ae0e-4cce-b061-479f9e1ede58"/>
          <p:cNvSpPr txBox="1"/>
          <p:nvPr/>
        </p:nvSpPr>
        <p:spPr>
          <a:xfrm>
            <a:off x="640080" y="1170432"/>
            <a:ext cx="466344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6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试点结果口径说明</a:t>
            </a:r>
          </a:p>
        </p:txBody>
      </p:sp>
      <p:sp>
        <p:nvSpPr>
          <p:cNvPr id="3" name="object_c8972e9c-5e67-41e1-8581-f17fe5ac368e"/>
          <p:cNvSpPr txBox="1"/>
          <p:nvPr/>
        </p:nvSpPr>
        <p:spPr>
          <a:xfrm>
            <a:off x="5852160" y="1133856"/>
            <a:ext cx="5669280" cy="4526280"/>
          </a:xfrm>
          <a:prstGeom prst="rect">
            <a:avLst/>
          </a:prstGeom>
          <a:solidFill>
            <a:srgbClr val="192C32"/>
          </a:solidFill>
          <a:ln>
            <a:noFill/>
          </a:ln>
        </p:spPr>
        <p:txBody>
          <a:bodyPr wrap="square" lIns="256032" rIns="256032" tIns="256032" bIns="256032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结果限定：同一学校、同一年度、同一口径的试点结果。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2026年降低能耗8%。【已选来源】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另一来源曾给出9%，此处按已选来源呈现。</a:t>
            </a:r>
          </a:p>
        </p:txBody>
      </p:sp>
      <p:sp>
        <p:nvSpPr>
          <p:cNvPr id="4" name="object_02734f9f-3f6c-4093-b80d-6db78fcc5d27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学校节能试点：2026年能耗降低8%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