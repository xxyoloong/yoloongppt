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来源证据：evidence_48325ac1-5777-458e-8158-2c56de26e3bd。原文含“8%；%；2026年；同一学校、同一年度、同一口径的试点结果”。8%为已选事实值，不采用冲突值9%。</a:t>
            </a:r>
          </a:p>
          <a:p/>
          <a:p>
            <a:r>
              <a:t>证据：</a:t>
            </a:r>
          </a:p>
          <a:p>
            <a:r>
              <a:t>evidence_48325ac1-5777-458e-8158-2c56de26e3bd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来源证据：evidence_48325ac1-5777-458e-8158-2c56de26e3bd。原文限定语为“同一学校、同一年度、同一口径的试点结果”。未提供的信息不补值。</a:t>
            </a:r>
          </a:p>
          <a:p/>
          <a:p>
            <a:r>
              <a:t>证据：</a:t>
            </a:r>
          </a:p>
          <a:p>
            <a:r>
              <a:t>evidence_48325ac1-5777-458e-8158-2c56de26e3bd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来源证据：evidence_48325ac1-5777-458e-8158-2c56de26e3bd、evidence_43906f30-8a0e-4f40-a808-b42947f564b9。两份来源均含“总务处”。</a:t>
            </a:r>
          </a:p>
          <a:p/>
          <a:p>
            <a:r>
              <a:t>证据：</a:t>
            </a:r>
          </a:p>
          <a:p>
            <a:r>
              <a:t>evidence_48325ac1-5777-458e-8158-2c56de26e3bd</a:t>
            </a:r>
          </a:p>
          <a:p>
            <a:r>
              <a:t>evidence_43906f30-8a0e-4f40-a808-b42947f564b9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来源证据：evidence_48325ac1-5777-458e-8158-2c56de26e3bd、evidence_43906f30-8a0e-4f40-a808-b42947f564b9。两份来源均含“下一步继续监测能耗并复核记录”。</a:t>
            </a:r>
          </a:p>
          <a:p/>
          <a:p>
            <a:r>
              <a:t>证据：</a:t>
            </a:r>
          </a:p>
          <a:p>
            <a:r>
              <a:t>evidence_48325ac1-5777-458e-8158-2c56de26e3bd</a:t>
            </a:r>
          </a:p>
          <a:p>
            <a:r>
              <a:t>evidence_43906f30-8a0e-4f40-a808-b42947f564b9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2C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bject_058bef51-c1b9-47fa-b2eb-3f2a639f2806"/>
          <p:cNvSpPr txBox="1"/>
          <p:nvPr/>
        </p:nvSpPr>
        <p:spPr>
          <a:xfrm>
            <a:off x="640080" y="1234440"/>
            <a:ext cx="5852160" cy="33375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4000" b="1">
                <a:solidFill>
                  <a:srgbClr val="F6F4EE"/>
                </a:solidFill>
                <a:latin typeface="Noto Sans CJK SC"/>
                <a:ea typeface="Noto Sans CJK SC"/>
              </a:defRPr>
            </a:pPr>
            <a:r>
              <a:t>2026年试点结果：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4000" b="1">
                <a:solidFill>
                  <a:srgbClr val="F6F4EE"/>
                </a:solidFill>
                <a:latin typeface="Noto Sans CJK SC"/>
                <a:ea typeface="Noto Sans CJK SC"/>
              </a:defRPr>
            </a:pPr>
            <a:r>
              <a:t>能耗降低8%</a:t>
            </a:r>
          </a:p>
        </p:txBody>
      </p:sp>
      <p:sp>
        <p:nvSpPr>
          <p:cNvPr id="3" name="object_d1396fe1-3a9f-4c61-8a6a-ab1786946c3d"/>
          <p:cNvSpPr txBox="1"/>
          <p:nvPr/>
        </p:nvSpPr>
        <p:spPr>
          <a:xfrm>
            <a:off x="6995160" y="1298448"/>
            <a:ext cx="4480560" cy="44805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600"/>
              </a:spcAft>
              <a:defRPr sz="2200" b="0">
                <a:solidFill>
                  <a:srgbClr val="F6F4EE"/>
                </a:solidFill>
                <a:latin typeface="Noto Sans CJK SC"/>
                <a:ea typeface="Noto Sans CJK SC"/>
              </a:defRPr>
            </a:pPr>
            <a:r>
              <a:t>2026年试点结果显示能耗降低8%。</a:t>
            </a:r>
          </a:p>
          <a:p>
            <a:pPr>
              <a:lnSpc>
                <a:spcPct val="115000"/>
              </a:lnSpc>
              <a:spcAft>
                <a:spcPts val="1600"/>
              </a:spcAft>
              <a:defRPr sz="2200" b="0">
                <a:solidFill>
                  <a:srgbClr val="F6F4EE"/>
                </a:solidFill>
                <a:latin typeface="Noto Sans CJK SC"/>
                <a:ea typeface="Noto Sans CJK SC"/>
              </a:defRPr>
            </a:pPr>
            <a:r>
              <a:t>该结果限定为同一学校、同一年度、同一口径。</a:t>
            </a:r>
          </a:p>
        </p:txBody>
      </p:sp>
      <p:sp>
        <p:nvSpPr>
          <p:cNvPr id="4" name="object_99ffc695-1e29-487a-ab05-258161b9aba3"/>
          <p:cNvSpPr txBox="1"/>
          <p:nvPr/>
        </p:nvSpPr>
        <p:spPr>
          <a:xfrm>
            <a:off x="640080" y="6245352"/>
            <a:ext cx="109270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F6F4EE"/>
                </a:solidFill>
                <a:latin typeface="Noto Sans CJK SC"/>
                <a:ea typeface="Noto Sans CJK SC"/>
              </a:defRPr>
            </a:pPr>
            <a:r>
              <a:t>01 / 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bject_4b7e67e8-7235-4428-bb13-dc94e0f32358"/>
          <p:cNvSpPr txBox="1"/>
          <p:nvPr/>
        </p:nvSpPr>
        <p:spPr>
          <a:xfrm>
            <a:off x="640080" y="548640"/>
            <a:ext cx="1092708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3200" b="1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结果口径：同一学校、同一年度、同一口径</a:t>
            </a:r>
          </a:p>
        </p:txBody>
      </p:sp>
      <p:sp>
        <p:nvSpPr>
          <p:cNvPr id="3" name="object_6d1cdb18-69d7-4bcd-ac17-bc933403cfd1"/>
          <p:cNvSpPr txBox="1"/>
          <p:nvPr/>
        </p:nvSpPr>
        <p:spPr>
          <a:xfrm>
            <a:off x="640080" y="1874519"/>
            <a:ext cx="5321808" cy="1691640"/>
          </a:xfrm>
          <a:prstGeom prst="rect">
            <a:avLst/>
          </a:prstGeom>
          <a:solidFill>
            <a:srgbClr val="FFFFFF"/>
          </a:solidFill>
          <a:ln w="8890">
            <a:solidFill>
              <a:srgbClr val="D6DFDA"/>
            </a:solidFill>
          </a:ln>
        </p:spPr>
        <p:txBody>
          <a:bodyPr wrap="square" lIns="201168" rIns="201168" tIns="201168" bIns="201168">
            <a:no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试点结果限定为同一学校、同一年度、同一口径。</a:t>
            </a:r>
          </a:p>
        </p:txBody>
      </p:sp>
      <p:sp>
        <p:nvSpPr>
          <p:cNvPr id="4" name="object_7d5cb183-59e6-4f89-b486-43fd28e9f2c7"/>
          <p:cNvSpPr txBox="1"/>
          <p:nvPr/>
        </p:nvSpPr>
        <p:spPr>
          <a:xfrm>
            <a:off x="6263640" y="1874519"/>
            <a:ext cx="5321808" cy="1691640"/>
          </a:xfrm>
          <a:prstGeom prst="rect">
            <a:avLst/>
          </a:prstGeom>
          <a:solidFill>
            <a:srgbClr val="FFFFFF"/>
          </a:solidFill>
          <a:ln w="8890">
            <a:solidFill>
              <a:srgbClr val="D6DFDA"/>
            </a:solidFill>
          </a:ln>
        </p:spPr>
        <p:txBody>
          <a:bodyPr wrap="square" lIns="201168" rIns="201168" tIns="201168" bIns="201168">
            <a:no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原文未提供学校名称、能耗基线或计算方式。</a:t>
            </a:r>
          </a:p>
        </p:txBody>
      </p:sp>
      <p:sp>
        <p:nvSpPr>
          <p:cNvPr id="5" name="object_899fc09b-2821-4f3f-9332-a9d3292a911d"/>
          <p:cNvSpPr txBox="1"/>
          <p:nvPr/>
        </p:nvSpPr>
        <p:spPr>
          <a:xfrm>
            <a:off x="640080" y="6245352"/>
            <a:ext cx="109270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147C80"/>
                </a:solidFill>
                <a:latin typeface="Noto Sans CJK SC"/>
                <a:ea typeface="Noto Sans CJK SC"/>
              </a:defRPr>
            </a:pPr>
            <a:r>
              <a:t>02 / 04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bject_c26591ea-d59d-4abb-a9a6-aa1df95c25ab"/>
          <p:cNvSpPr txBox="1"/>
          <p:nvPr/>
        </p:nvSpPr>
        <p:spPr>
          <a:xfrm>
            <a:off x="640080" y="548640"/>
            <a:ext cx="1092708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3200" b="1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责任部门：总务处</a:t>
            </a:r>
          </a:p>
        </p:txBody>
      </p:sp>
      <p:sp>
        <p:nvSpPr>
          <p:cNvPr id="3" name="object_3ee4bbdb-fbca-4d54-8879-c4bb26ba8e4f"/>
          <p:cNvSpPr txBox="1"/>
          <p:nvPr/>
        </p:nvSpPr>
        <p:spPr>
          <a:xfrm>
            <a:off x="640080" y="1874519"/>
            <a:ext cx="5321808" cy="3886200"/>
          </a:xfrm>
          <a:prstGeom prst="rect">
            <a:avLst/>
          </a:prstGeom>
          <a:solidFill>
            <a:srgbClr val="FFFFFF"/>
          </a:solidFill>
          <a:ln w="8890">
            <a:solidFill>
              <a:srgbClr val="D6DFDA"/>
            </a:solidFill>
          </a:ln>
        </p:spPr>
        <p:txBody>
          <a:bodyPr wrap="square" lIns="201168" rIns="201168" tIns="201168" bIns="201168">
            <a:no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总务处出现在来源材料中。</a:t>
            </a:r>
          </a:p>
        </p:txBody>
      </p:sp>
      <p:sp>
        <p:nvSpPr>
          <p:cNvPr id="4" name="object_db015db1-2568-4342-b9c6-4f273b0892a4"/>
          <p:cNvSpPr txBox="1"/>
          <p:nvPr/>
        </p:nvSpPr>
        <p:spPr>
          <a:xfrm>
            <a:off x="6263640" y="1874519"/>
            <a:ext cx="5321808" cy="3886200"/>
          </a:xfrm>
          <a:prstGeom prst="rect">
            <a:avLst/>
          </a:prstGeom>
          <a:solidFill>
            <a:srgbClr val="FFFFFF"/>
          </a:solidFill>
          <a:ln w="8890">
            <a:solidFill>
              <a:srgbClr val="D6DFDA"/>
            </a:solidFill>
          </a:ln>
        </p:spPr>
        <p:txBody>
          <a:bodyPr wrap="square" lIns="201168" rIns="201168" tIns="201168" bIns="201168">
            <a:no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原文未说明总务处的具体职责分工。</a:t>
            </a:r>
          </a:p>
        </p:txBody>
      </p:sp>
      <p:sp>
        <p:nvSpPr>
          <p:cNvPr id="5" name="object_466fc33f-9fff-42d8-a297-2ce4be6ef736"/>
          <p:cNvSpPr txBox="1"/>
          <p:nvPr/>
        </p:nvSpPr>
        <p:spPr>
          <a:xfrm>
            <a:off x="640080" y="6245352"/>
            <a:ext cx="109270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147C80"/>
                </a:solidFill>
                <a:latin typeface="Noto Sans CJK SC"/>
                <a:ea typeface="Noto Sans CJK SC"/>
              </a:defRPr>
            </a:pPr>
            <a:r>
              <a:t>03 / 04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bject_66a66e19-cf75-4230-afc4-583b6a722358"/>
          <p:cNvSpPr txBox="1"/>
          <p:nvPr/>
        </p:nvSpPr>
        <p:spPr>
          <a:xfrm>
            <a:off x="640080" y="1170432"/>
            <a:ext cx="4663440" cy="41605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3600" b="1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下一步：继续监测能耗并复核记录</a:t>
            </a:r>
          </a:p>
        </p:txBody>
      </p:sp>
      <p:sp>
        <p:nvSpPr>
          <p:cNvPr id="3" name="object_a682c92d-e333-4cc3-9bab-f0467cee4051"/>
          <p:cNvSpPr txBox="1"/>
          <p:nvPr/>
        </p:nvSpPr>
        <p:spPr>
          <a:xfrm>
            <a:off x="5852160" y="1133856"/>
            <a:ext cx="5669280" cy="4526280"/>
          </a:xfrm>
          <a:prstGeom prst="rect">
            <a:avLst/>
          </a:prstGeom>
          <a:solidFill>
            <a:srgbClr val="192C32"/>
          </a:solidFill>
          <a:ln>
            <a:noFill/>
          </a:ln>
        </p:spPr>
        <p:txBody>
          <a:bodyPr wrap="square" lIns="256032" rIns="256032" tIns="256032" bIns="256032">
            <a:noAutofit/>
          </a:bodyPr>
          <a:lstStyle/>
          <a:p>
            <a:pPr>
              <a:lnSpc>
                <a:spcPct val="115000"/>
              </a:lnSpc>
              <a:spcAft>
                <a:spcPts val="1600"/>
              </a:spcAft>
              <a:defRPr sz="2300" b="0">
                <a:solidFill>
                  <a:srgbClr val="F6F4EE"/>
                </a:solidFill>
                <a:latin typeface="Noto Sans CJK SC"/>
                <a:ea typeface="Noto Sans CJK SC"/>
              </a:defRPr>
            </a:pPr>
            <a:r>
              <a:t>下一步继续监测能耗并复核记录。</a:t>
            </a:r>
          </a:p>
          <a:p>
            <a:pPr>
              <a:lnSpc>
                <a:spcPct val="115000"/>
              </a:lnSpc>
              <a:spcAft>
                <a:spcPts val="1600"/>
              </a:spcAft>
              <a:defRPr sz="2300" b="0">
                <a:solidFill>
                  <a:srgbClr val="F6F4EE"/>
                </a:solidFill>
                <a:latin typeface="Noto Sans CJK SC"/>
                <a:ea typeface="Noto Sans CJK SC"/>
              </a:defRPr>
            </a:pPr>
            <a:r>
              <a:t>原文未给出完成时间、频次或复核标准。</a:t>
            </a:r>
          </a:p>
        </p:txBody>
      </p:sp>
      <p:sp>
        <p:nvSpPr>
          <p:cNvPr id="4" name="object_4b09e0e8-18f0-42fa-8c23-b90508e06778"/>
          <p:cNvSpPr txBox="1"/>
          <p:nvPr/>
        </p:nvSpPr>
        <p:spPr>
          <a:xfrm>
            <a:off x="640080" y="6245352"/>
            <a:ext cx="109270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147C80"/>
                </a:solidFill>
                <a:latin typeface="Noto Sans CJK SC"/>
                <a:ea typeface="Noto Sans CJK SC"/>
              </a:defRPr>
            </a:pPr>
            <a:r>
              <a:t>04 / 04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2026年学校能耗试点结果与后续监测安排</dc:title>
  <dc:subject/>
  <dc:creator>YoloongPPT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