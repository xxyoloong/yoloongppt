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降低幅度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Sheet1!$A$2:$A$2</c:f>
              <c:strCache>
                <c:ptCount val="1"/>
                <c:pt idx="0">
                  <c:v>2026年试点能耗降低目标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来源材料明确试点范围限于教室照明管理，并强调不对全校节能作出承诺，因此本页不扩展至其他用能领域。</a:t>
            </a:r>
          </a:p>
          <a:p/>
          <a:p>
            <a:r>
              <a:t>证据：</a:t>
            </a:r>
          </a:p>
          <a:p>
            <a:r>
              <a:t>evidence_85794346-3802-4b3d-b792-359536e81038</a:t>
            </a:r>
          </a:p>
          <a:p>
            <a:r>
              <a:t>evidence_dc928737-77ab-4312-8bc5-350f3fdfe815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8%与2026年来自原文，属试点目标性质。基线口径与指标名称在来源中缺失，按占位符保留，未补值。</a:t>
            </a:r>
          </a:p>
          <a:p>
            <a:r>
              <a:t>【容量决策：完整补充内容移入备注】</a:t>
            </a:r>
          </a:p>
          <a:p>
            <a:r>
              <a:t>该8%为试点目标，百分比基准为能耗。</a:t>
            </a:r>
          </a:p>
          <a:p/>
          <a:p>
            <a:r>
              <a:t>证据：</a:t>
            </a:r>
          </a:p>
          <a:p>
            <a:r>
              <a:t>evidence_3f0bbeaa-090f-4288-86cd-36f1b006f40a</a:t>
            </a:r>
          </a:p>
          <a:p>
            <a:r>
              <a:t>evidence_f2a54824-ecc4-4929-abbf-29495eae4125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来源材料给出三步顺序：先检查教室照明，再设置定时关灯，随后记录变化。本页仅复述该顺序，不添加设备型号或时间参数。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来源材料描述培训值班人员、每周回看记录以及异常处理顺序。本页不承诺培训频次或覆盖人数。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表格仅使用原文可核验要素：试点名称、目标年份、降低幅度、百分比基准、限定范围。基线口径与指标名称缺失，未填入表格。</a:t>
            </a:r>
          </a:p>
          <a:p/>
          <a:p>
            <a:r>
              <a:t>证据：</a:t>
            </a:r>
          </a:p>
          <a:p>
            <a:r>
              <a:t>evidence_85794346-3802-4b3d-b792-359536e81038</a:t>
            </a:r>
          </a:p>
          <a:p>
            <a:r>
              <a:t>evidence_3f0bbeaa-090f-4288-86cd-36f1b006f40a</a:t>
            </a:r>
          </a:p>
          <a:p>
            <a:r>
              <a:t>evidence_f2a54824-ecc4-4929-abbf-29495eae4125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图表仅呈现原文给出的8%目标值，不添加基线值或历史对比，避免编造统计数据。</a:t>
            </a:r>
          </a:p>
          <a:p/>
          <a:p>
            <a:r>
              <a:t>证据：</a:t>
            </a:r>
          </a:p>
          <a:p>
            <a:r>
              <a:t>evidence_3f0bbeaa-090f-4288-86cd-36f1b006f40a</a:t>
            </a:r>
          </a:p>
          <a:p>
            <a:r>
              <a:t>evidence_f2a54824-ecc4-4929-abbf-29495eae4125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来源材料未给出基线口径与指标名称，按占位符保留。试点范围限定为照明管理，不扩展为全校节能承诺。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  <a:p>
            <a:r>
              <a:t>evidence_3f0bbeaa-090f-4288-86cd-36f1b006f40a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后续动作基于来源已有的执行与复核机制，并针对缺失口径提出补充需求，不新增承诺或时间表。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  <a:p>
            <a:r>
              <a:t>evidence_3f0bbeaa-090f-4288-86cd-36f1b006f40a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7c9b1de-67ea-4d7a-8094-fd467bf70a8d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试点定位：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教室照明管理</a:t>
            </a:r>
          </a:p>
        </p:txBody>
      </p:sp>
      <p:sp>
        <p:nvSpPr>
          <p:cNvPr id="3" name="object_310785a5-fe5b-451c-96d1-9b16083df0a5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试点名称为学校节能试点。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试点只讨论照明管理，不对全校节能作出承诺。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先检查教室照明，再设置定时关灯，随后记录变化。</a:t>
            </a:r>
          </a:p>
        </p:txBody>
      </p:sp>
      <p:sp>
        <p:nvSpPr>
          <p:cNvPr id="4" name="object_f4d786ad-d9b3-4700-b942-cbd63911623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76d404a-619f-4c83-99e0-d30059a3508b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目标：2026年能耗降低8%</a:t>
            </a:r>
          </a:p>
        </p:txBody>
      </p:sp>
      <p:sp>
        <p:nvSpPr>
          <p:cNvPr id="3" name="object_711b2f01-9161-4e44-9a36-92061824911d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试点2026年能耗降低8%。</a:t>
            </a:r>
          </a:p>
        </p:txBody>
      </p:sp>
      <p:sp>
        <p:nvSpPr>
          <p:cNvPr id="4" name="object_df02f740-c76e-4148-b74e-49ba25000241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【待补充：school_energy_saving_pilot.energy_consumption_reduction_target.baseline】</a:t>
            </a:r>
          </a:p>
        </p:txBody>
      </p:sp>
      <p:sp>
        <p:nvSpPr>
          <p:cNvPr id="5" name="object_058480ae-4f5a-45be-9cf2-9bfae0386298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【待补充：school_energy_saving_pilot.energy_consumption_reduction_target.metric_name】</a:t>
            </a:r>
          </a:p>
        </p:txBody>
      </p:sp>
      <p:sp>
        <p:nvSpPr>
          <p:cNvPr id="6" name="object_5a9d69a7-97b9-4ec8-9864-fe8b651725fc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ab15402-a7b8-4ca4-be3d-feef613f9c2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执行方法：检查、定时、记录</a:t>
            </a:r>
          </a:p>
        </p:txBody>
      </p:sp>
      <p:sp>
        <p:nvSpPr>
          <p:cNvPr id="3" name="object_707c9f36-5cbf-4819-86a9-d9bf3b920f9c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第一步：检查教室照明。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第二步：设置定时关灯。</a:t>
            </a:r>
          </a:p>
        </p:txBody>
      </p:sp>
      <p:sp>
        <p:nvSpPr>
          <p:cNvPr id="4" name="object_6925a4f3-29ed-403b-831e-68b1e4e86ab6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第三步：记录变化。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步骤顺序来自来源材料。</a:t>
            </a:r>
          </a:p>
        </p:txBody>
      </p:sp>
      <p:sp>
        <p:nvSpPr>
          <p:cNvPr id="5" name="object_a883e663-cdf5-4968-aad4-6ed99b5e4a47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be7dd1e-51ac-4dfe-b3c8-eeed638d6e30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人员与复核机制</a:t>
            </a:r>
          </a:p>
        </p:txBody>
      </p:sp>
      <p:sp>
        <p:nvSpPr>
          <p:cNvPr id="3" name="object_447ab263-4142-41f3-8589-efdc74c60109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团队先培训值班人员。</a:t>
            </a:r>
          </a:p>
        </p:txBody>
      </p:sp>
      <p:sp>
        <p:nvSpPr>
          <p:cNvPr id="4" name="object_b79b31c4-d19e-49ed-8d0b-f4ae2865d4a0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再每周回看记录。</a:t>
            </a:r>
          </a:p>
        </p:txBody>
      </p:sp>
      <p:sp>
        <p:nvSpPr>
          <p:cNvPr id="5" name="object_1e1f65c3-ec71-4d0f-88b5-fd91a422e516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发现异常时先核实记录，再调整设备。</a:t>
            </a:r>
          </a:p>
        </p:txBody>
      </p:sp>
      <p:sp>
        <p:nvSpPr>
          <p:cNvPr id="6" name="object_6286ca99-89a0-4bf2-9604-fb729465541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09b96bca-02e1-4064-838b-b1b114eb9cea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试点目标一览</a:t>
            </a:r>
          </a:p>
        </p:txBody>
      </p:sp>
      <p:sp>
        <p:nvSpPr>
          <p:cNvPr id="3" name="object_5a56972e-f56e-48a9-9aa5-9caeb63cdb6b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仅列出来源中可核验的要素。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缺失项以占位符标注。</a:t>
            </a:r>
          </a:p>
        </p:txBody>
      </p:sp>
      <p:graphicFrame>
        <p:nvGraphicFramePr>
          <p:cNvPr id="4" name="object_5c46659a-a6f4-44fe-92fa-8f6224b2c31b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5615"/>
                <a:gridCol w="3785616"/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要素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内容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试点名称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学校节能试点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目标年份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2026年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降低幅度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百分比基准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能耗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限定范围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试点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基线口径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【待补充】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指标名称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【待补充】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dd8f4f44-625c-43c3-ba97-d420480786c5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dc86d78c-106d-48bd-9552-22ff58694afa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目标数值呈现</a:t>
            </a:r>
          </a:p>
        </p:txBody>
      </p:sp>
      <p:sp>
        <p:nvSpPr>
          <p:cNvPr id="3" name="object_43b145be-3775-42e3-b6f9-a2e99c37392c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来源仅提供8%这一目标数值。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不补充其他年份或对比数据。</a:t>
            </a:r>
          </a:p>
        </p:txBody>
      </p:sp>
      <p:graphicFrame>
        <p:nvGraphicFramePr>
          <p:cNvPr id="4" name="object_4c4141f4-b2a5-4db2-a793-bc117339dc58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ec1c9fd3-9f5e-430e-92a1-fc9fe30757e7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9d03004-17d9-4017-9428-28293d70fc53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待补充事项与边界</a:t>
            </a:r>
          </a:p>
        </p:txBody>
      </p:sp>
      <p:sp>
        <p:nvSpPr>
          <p:cNvPr id="3" name="object_bb87fef3-92ea-4457-ad4e-4f07d6a1fdea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基线口径待补充，无法计算绝对节能量。</a:t>
            </a:r>
          </a:p>
        </p:txBody>
      </p:sp>
      <p:sp>
        <p:nvSpPr>
          <p:cNvPr id="4" name="object_1a82fd8f-306a-4134-8f3d-c7199c07ccde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指标名称待补充，口径尚未确认。</a:t>
            </a:r>
          </a:p>
        </p:txBody>
      </p:sp>
      <p:sp>
        <p:nvSpPr>
          <p:cNvPr id="5" name="object_6b627f73-01e4-4423-ac95-a11cc5b21559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试点只讨论照明管理，不对全校节能作出承诺。</a:t>
            </a:r>
          </a:p>
        </p:txBody>
      </p:sp>
      <p:sp>
        <p:nvSpPr>
          <p:cNvPr id="6" name="object_6eb1e7aa-425f-4e0a-a86e-af9f3a3d6b2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de868f0-ec47-4d88-9c88-cb34b49c9a93"/>
          <p:cNvSpPr txBox="1"/>
          <p:nvPr/>
        </p:nvSpPr>
        <p:spPr>
          <a:xfrm>
            <a:off x="640080" y="1170432"/>
            <a:ext cx="466344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6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下一步：补齐口径后复核</a:t>
            </a:r>
          </a:p>
        </p:txBody>
      </p:sp>
      <p:sp>
        <p:nvSpPr>
          <p:cNvPr id="3" name="object_571ca927-2436-4bba-b93e-85aa1a7dea58"/>
          <p:cNvSpPr txBox="1"/>
          <p:nvPr/>
        </p:nvSpPr>
        <p:spPr>
          <a:xfrm>
            <a:off x="5852160" y="1133856"/>
            <a:ext cx="5669280" cy="4526280"/>
          </a:xfrm>
          <a:prstGeom prst="rect">
            <a:avLst/>
          </a:prstGeom>
          <a:solidFill>
            <a:srgbClr val="192C32"/>
          </a:solidFill>
          <a:ln>
            <a:noFill/>
          </a:ln>
        </p:spPr>
        <p:txBody>
          <a:bodyPr wrap="square" lIns="256032" rIns="256032" tIns="256032" bIns="256032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补齐基线口径与指标名称。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按检查、定时、记录流程继续执行。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每周回看记录，异常先核实再调整设备。</a:t>
            </a:r>
          </a:p>
        </p:txBody>
      </p:sp>
      <p:sp>
        <p:nvSpPr>
          <p:cNvPr id="4" name="object_b8dc4239-0d4c-4365-bd54-52e766c51f4d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学校节能试点项目汇报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