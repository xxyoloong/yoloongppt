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示例月基线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Sheet1!$A$2:$A$5</c:f>
              <c:strCache>
                <c:ptCount val="4"/>
                <c:pt idx="0">
                  <c:v>教学楼A</c:v>
                </c:pt>
                <c:pt idx="1">
                  <c:v>教学楼B</c:v>
                </c:pt>
                <c:pt idx="2">
                  <c:v>图书馆</c:v>
                </c:pt>
                <c:pt idx="3">
                  <c:v>体育馆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12000</c:v>
                </c:pt>
                <c:pt idx="1">
                  <c:v>9000</c:v>
                </c:pt>
                <c:pt idx="2">
                  <c:v>8000</c:v>
                </c:pt>
                <c:pt idx="3">
                  <c:v>6000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试点月目标</c:v>
                </c:pt>
              </c:strCache>
            </c:strRef>
          </c:tx>
          <c:spPr>
            <a:solidFill>
              <a:srgbClr val="D17D32"/>
            </a:solidFill>
            <a:ln>
              <a:solidFill>
                <a:srgbClr val="D17D32"/>
              </a:solidFill>
            </a:ln>
          </c:spPr>
          <c:cat>
            <c:strRef>
              <c:f>Sheet1!$A$2:$A$5</c:f>
              <c:strCache>
                <c:ptCount val="4"/>
                <c:pt idx="0">
                  <c:v>教学楼A</c:v>
                </c:pt>
                <c:pt idx="1">
                  <c:v>教学楼B</c:v>
                </c:pt>
                <c:pt idx="2">
                  <c:v>图书馆</c:v>
                </c:pt>
                <c:pt idx="3">
                  <c:v>体育馆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10000</c:v>
                </c:pt>
                <c:pt idx="1">
                  <c:v>8000</c:v>
                </c:pt>
                <c:pt idx="2">
                  <c:v>7000</c:v>
                </c:pt>
                <c:pt idx="3">
                  <c:v>5500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来源明确本文数据均为演示系统验证用示例，不是某所学校的真实观测、投资承诺或已经实现的节能效果。</a:t>
            </a:r>
          </a:p>
          <a:p/>
          <a:p>
            <a:r>
              <a:t>证据：</a:t>
            </a:r>
          </a:p>
          <a:p>
            <a:r>
              <a:t>evidence_beb36677-c4b2-44c8-93c6-ccff0f377b3c</a:t>
            </a:r>
          </a:p>
          <a:p>
            <a:r>
              <a:t>evidence_f002b6e0-bc93-4682-9452-f1aa8373d6fa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原文核心建议强调基线、小范围改造与测量、安全和使用体验确认，以及不能单凭月度总量认定因果效果。</a:t>
            </a:r>
          </a:p>
          <a:p/>
          <a:p>
            <a:r>
              <a:t>证据：</a:t>
            </a:r>
          </a:p>
          <a:p>
            <a:r>
              <a:t>evidence_ec229098-0a7a-4954-94ec-6763e028d16f</a:t>
            </a:r>
          </a:p>
          <a:p>
            <a:r>
              <a:t>evidence_fb653380-d447-46ef-93a4-d541670407d0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原文明确试点覆盖四个区域，比较区间为一个示例月份，并列出首批工作及不进入自动断电范围的对象。</a:t>
            </a:r>
          </a:p>
          <a:p/>
          <a:p>
            <a:r>
              <a:t>证据：</a:t>
            </a:r>
          </a:p>
          <a:p>
            <a:r>
              <a:t>evidence_e3c959e4-7e86-488c-8319-6ee5934e2e0c</a:t>
            </a:r>
          </a:p>
          <a:p>
            <a:r>
              <a:t>evidence_f5c77227-162d-4b11-810a-da4fcd977b13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原文强调表格中的基线和目标仅用于说明数据组织方法，单位统一为千瓦时，目标是计划值，尚未实现。</a:t>
            </a:r>
          </a:p>
          <a:p/>
          <a:p>
            <a:r>
              <a:t>证据：</a:t>
            </a:r>
          </a:p>
          <a:p>
            <a:r>
              <a:t>evidence_4b154e79-e993-4c0e-a0b6-1032055ddf8a</a:t>
            </a:r>
          </a:p>
          <a:p>
            <a:r>
              <a:t>evidence_b5b70e95-81ea-46bb-9cdc-db32a4b177e0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表格数据来自原文，仅用于说明数据组织方法，单位统一为千瓦时，目标是计划值，尚未实现。</a:t>
            </a:r>
          </a:p>
          <a:p/>
          <a:p>
            <a:r>
              <a:t>证据：</a:t>
            </a:r>
          </a:p>
          <a:p>
            <a:r>
              <a:t>evidence_bafc9cf6-7c57-4f39-ae66-1d3bc486e1a3</a:t>
            </a:r>
          </a:p>
          <a:p>
            <a:r>
              <a:t>evidence_b5b70e95-81ea-46bb-9cdc-db32a4b177e0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原文建议可用原生柱状图并列展示各区域的示例基线与目标，纵轴必须标为千瓦时，系列名称必须明确区分基线和目标。</a:t>
            </a:r>
          </a:p>
          <a:p/>
          <a:p>
            <a:r>
              <a:t>证据：</a:t>
            </a:r>
          </a:p>
          <a:p>
            <a:r>
              <a:t>evidence_f409bfbb-aeaf-4a1c-b098-7d76b15c9b28</a:t>
            </a:r>
          </a:p>
          <a:p>
            <a:r>
              <a:t>evidence_bafc9cf6-7c57-4f39-ae66-1d3bc486e1a3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原文指出总用电受多种因素影响，不能只凭两个数值认定节能率或项目收益，且本文没有提供真实节能率和投资回收期。</a:t>
            </a:r>
          </a:p>
          <a:p/>
          <a:p>
            <a:r>
              <a:t>证据：</a:t>
            </a:r>
          </a:p>
          <a:p>
            <a:r>
              <a:t>evidence_4744b9eb-d0b9-477f-8b09-16124000baba</a:t>
            </a:r>
          </a:p>
          <a:p>
            <a:r>
              <a:t>evidence_f409bfbb-aeaf-4a1c-b098-7d76b15c9b28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原文列出照明措施、管理措施、自动控制要求，并强调设备更换需结合现有设施实际情况，不能从示例数据直接推定品牌或采购价格。</a:t>
            </a:r>
          </a:p>
          <a:p/>
          <a:p>
            <a:r>
              <a:t>证据：</a:t>
            </a:r>
          </a:p>
          <a:p>
            <a:r>
              <a:t>evidence_e83ca342-86a9-40bc-a018-f4f2c0235e75</a:t>
            </a:r>
          </a:p>
          <a:p>
            <a:r>
              <a:t>evidence_5a1bdd2f-6c7b-42ab-bb75-7c2542d6e2e1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原文按准备、试点、观察、复盘四个阶段说明实施安排，并强调复盘阶段同时检查能耗、照明体验、安全反馈和维护负担。</a:t>
            </a:r>
          </a:p>
          <a:p/>
          <a:p>
            <a:r>
              <a:t>证据：</a:t>
            </a:r>
          </a:p>
          <a:p>
            <a:r>
              <a:t>evidence_4b548541-cdd4-4b39-844f-b241f4aee7c0</a:t>
            </a:r>
          </a:p>
          <a:p>
            <a:r>
              <a:t>evidence_d449b4dc-e2a9-4fb1-a5ec-fbe282042601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说明所有角色是建议分工，不是已经设立的组织；风险包括照明体验、误关和统计口径变化；下一步是确认现场范围与负责人、补齐真实基线、执行可恢复试点。本文仅用于生成系统验证，不替代现场实施审批。</a:t>
            </a:r>
          </a:p>
          <a:p/>
          <a:p>
            <a:r>
              <a:t>证据：</a:t>
            </a:r>
          </a:p>
          <a:p>
            <a:r>
              <a:t>evidence_23cdd550-70f1-41f9-88a5-06c86b3c0313</a:t>
            </a:r>
          </a:p>
          <a:p>
            <a:r>
              <a:t>evidence_0a729c6d-3810-477e-887c-3c42842d34eb</a:t>
            </a:r>
          </a:p>
          <a:p>
            <a:r>
              <a:t>evidence_be54dbcb-a86f-4d98-b178-d306d93aafd4</a:t>
            </a:r>
          </a:p>
          <a:p>
            <a:r>
              <a:t>evidence_11156959-029f-471f-939e-a89f46e544b8</a:t>
            </a:r>
          </a:p>
          <a:p>
            <a:r>
              <a:t>evidence_039f3317-cde9-4994-9908-d350156ec0f8</a:t>
            </a:r>
          </a:p>
          <a:p>
            <a:r>
              <a:t>evidence_47d4e1c7-77cb-44e6-b1d1-88b2bd4c3226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259e9bfa-3550-40a7-a434-0dabfd776d3f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校园节能试点：示例数据与实施方案</a:t>
            </a:r>
          </a:p>
        </p:txBody>
      </p:sp>
      <p:sp>
        <p:nvSpPr>
          <p:cNvPr id="3" name="object_8374e0ad-255f-4e68-952d-186f53e1eee8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本文全部数据为演示系统验证用示例，非真实观测或已实现效果。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面向学校管理团队组织约10页中文汇报，保留数据性质和单位。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不要把目标写成结果。</a:t>
            </a:r>
          </a:p>
        </p:txBody>
      </p:sp>
      <p:sp>
        <p:nvSpPr>
          <p:cNvPr id="4" name="object_4c154c8d-600b-4cf0-b597-09b8068033da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01  /  10  ·  来源索引见备注及ObjectMap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d6fcacdb-3032-46c0-85a7-af7cb6a79fe9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核心建议：先基线，再小范围验证</a:t>
            </a:r>
          </a:p>
        </p:txBody>
      </p:sp>
      <p:sp>
        <p:nvSpPr>
          <p:cNvPr id="3" name="object_28f342f9-c39a-4555-9869-c94a1cddfa55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先建立清楚用电基线，再小范围改造与测量。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确认安全和使用体验后再考虑扩大。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节能需设备、使用方式和管理流程共同配合。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单看月度总量不能证明改造产生因果效果。</a:t>
            </a:r>
          </a:p>
        </p:txBody>
      </p:sp>
      <p:sp>
        <p:nvSpPr>
          <p:cNvPr id="4" name="object_0b26ec17-2169-4a8a-9909-868878d793ab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02  /  10  ·  来源索引见备注及ObjectMap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56c979c-9e43-41b2-8572-9dc6a163124a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试点范围与安全边界</a:t>
            </a:r>
          </a:p>
        </p:txBody>
      </p:sp>
      <p:sp>
        <p:nvSpPr>
          <p:cNvPr id="3" name="object_5011a6ce-673f-4cff-8169-1abf38668b77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覆盖教学楼A、教学楼B、图书馆和体育馆。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比较区间统一为一个示例月份。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首批工作为教学楼照明与公共区域控制。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实验室、消防和应急照明不进入自动断电范围。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范围扩大前必须重新检查安全要求。</a:t>
            </a:r>
          </a:p>
        </p:txBody>
      </p:sp>
      <p:sp>
        <p:nvSpPr>
          <p:cNvPr id="4" name="object_d73544bb-f5f2-44a2-abf8-ccacf10a7d9e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03  /  10  ·  来源索引见备注及ObjectMap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9f996f81-bfa7-4cdc-afdc-570fa7185f2a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示例基线与目标：仅说明数据组织方法</a:t>
            </a:r>
          </a:p>
        </p:txBody>
      </p:sp>
      <p:sp>
        <p:nvSpPr>
          <p:cNvPr id="3" name="object_c52101c8-4bd1-4490-abbc-9825153d908a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表格基线和目标仅用于说明数据组织方法。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单位统一为千瓦时。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目标是计划值，尚未实现。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不能作为改造后的实际测量。</a:t>
            </a:r>
          </a:p>
        </p:txBody>
      </p:sp>
      <p:sp>
        <p:nvSpPr>
          <p:cNvPr id="4" name="object_9cc51289-e991-4d51-b9a4-ad2cb61b6093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04  /  10  ·  来源索引见备注及ObjectMap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cda3ffc5-2726-4990-a58f-8f65ddddb830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各区域示例月基线与试点月目标</a:t>
            </a:r>
          </a:p>
        </p:txBody>
      </p:sp>
      <p:sp>
        <p:nvSpPr>
          <p:cNvPr id="3" name="object_0207945b-83aa-4c62-b508-657483ddf338"/>
          <p:cNvSpPr txBox="1"/>
          <p:nvPr/>
        </p:nvSpPr>
        <p:spPr>
          <a:xfrm>
            <a:off x="640080" y="1645920"/>
            <a:ext cx="10789920" cy="105156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数据为演示用示例，目标为计划值，尚未实现。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单位统一为千瓦时。</a:t>
            </a:r>
          </a:p>
        </p:txBody>
      </p:sp>
      <p:graphicFrame>
        <p:nvGraphicFramePr>
          <p:cNvPr id="4" name="object_9eef8e80-d9eb-48e3-9aeb-b9bba177e3f9"/>
          <p:cNvGraphicFramePr>
            <a:graphicFrameLocks noGrp="1"/>
          </p:cNvGraphicFramePr>
          <p:nvPr/>
        </p:nvGraphicFramePr>
        <p:xfrm>
          <a:off x="640080" y="2788920"/>
          <a:ext cx="107899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61264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区域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示例月基线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试点月目标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教学楼A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教学楼B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图书馆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体育馆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5500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</a:tbl>
          </a:graphicData>
        </a:graphic>
      </p:graphicFrame>
      <p:sp>
        <p:nvSpPr>
          <p:cNvPr id="5" name="object_7bac3685-9bf4-4f50-9ec2-5cd03e34509d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05  /  10  ·  来源索引见备注及ObjectMap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138dbb4-fc98-4149-8a0b-19a110ee8126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示例基线与目标对比图</a:t>
            </a:r>
          </a:p>
        </p:txBody>
      </p:sp>
      <p:sp>
        <p:nvSpPr>
          <p:cNvPr id="3" name="object_05da71fb-0003-4599-95ac-f72bdb09c704"/>
          <p:cNvSpPr txBox="1"/>
          <p:nvPr/>
        </p:nvSpPr>
        <p:spPr>
          <a:xfrm>
            <a:off x="640080" y="1645920"/>
            <a:ext cx="10789920" cy="105156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纵轴单位为千瓦时，系列区分基线和目标。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数据为演示用示例，目标为计划值，尚未实现。</a:t>
            </a:r>
          </a:p>
        </p:txBody>
      </p:sp>
      <p:graphicFrame>
        <p:nvGraphicFramePr>
          <p:cNvPr id="4" name="object_1ed778fd-bee0-446e-bfb1-cfc049620695"/>
          <p:cNvGraphicFramePr>
            <a:graphicFrameLocks noGrp="1"/>
          </p:cNvGraphicFramePr>
          <p:nvPr/>
        </p:nvGraphicFramePr>
        <p:xfrm>
          <a:off x="640080" y="2788920"/>
          <a:ext cx="1078992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ed4be8cd-2056-4bf6-868d-ab6b4aa14a44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06  /  10  ·  来源索引见备注及ObjectMap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8a428ba8-a785-45fe-a461-12c2d65476c8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数据解读：不能只凭两个数值认定节能率</a:t>
            </a:r>
          </a:p>
        </p:txBody>
      </p:sp>
      <p:sp>
        <p:nvSpPr>
          <p:cNvPr id="3" name="object_fb0198a2-185c-4bde-a5bb-fd2889f96e6b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总用电受开放时间、人员规模、天气和活动安排影响。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不能只凭两个数值认定节能率或项目收益。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本文没有提供真实节能率和投资回收期。</a:t>
            </a:r>
          </a:p>
        </p:txBody>
      </p:sp>
      <p:sp>
        <p:nvSpPr>
          <p:cNvPr id="4" name="object_e6a903ce-09bb-4106-8dbc-cdd910216834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07  /  10  ·  来源索引见备注及ObjectMap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10b647ba-0d42-4562-bc56-a61c9fde0a7f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改造措施：照明、管理与设备选择</a:t>
            </a:r>
          </a:p>
        </p:txBody>
      </p:sp>
      <p:sp>
        <p:nvSpPr>
          <p:cNvPr id="3" name="object_4e044ad6-a5b7-4967-8265-5e194652ad94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照明措施：检查空置时段、分区控制、自然采光配合、维护故障灯具。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管理措施：巡查记录、异常反馈和负责人确认。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自动控制应允许人工覆盖，并保留应急照明。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设备更换需结合现有设施实际情况选择，不能从示例数据推定品牌或采购价格。</a:t>
            </a:r>
          </a:p>
        </p:txBody>
      </p:sp>
      <p:sp>
        <p:nvSpPr>
          <p:cNvPr id="4" name="object_46fbe8d9-9b43-4350-a3fd-14485d7bbd08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08  /  10  ·  来源索引见备注及ObjectMap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e6b1c027-de4b-4966-8ce4-485d3a5423d1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实施安排：准备、试点、观察、复盘</a:t>
            </a:r>
          </a:p>
        </p:txBody>
      </p:sp>
      <p:sp>
        <p:nvSpPr>
          <p:cNvPr id="3" name="object_1f6f93f9-89f5-4bea-8899-bcfa80803240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准备阶段：完成设施清单、基线记录和安全检查。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试点阶段：按区域逐步实施，保留原设置以便恢复。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观察阶段：对比相同口径数据，记录开放时长与活动变化。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复盘阶段：检查能耗、照明体验、安全反馈和维护负担，再决定继续、调整或停止。</a:t>
            </a:r>
          </a:p>
        </p:txBody>
      </p:sp>
      <p:sp>
        <p:nvSpPr>
          <p:cNvPr id="4" name="object_c7d01144-29e8-4402-a725-50f04b335687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09  /  10  ·  来源索引见备注及ObjectMap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8f543df3-0fe9-4113-9bc8-1d7fe8631dc8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责任分工、风险限制与下一步</a:t>
            </a:r>
          </a:p>
        </p:txBody>
      </p:sp>
      <p:sp>
        <p:nvSpPr>
          <p:cNvPr id="3" name="object_071c0b69-ab53-4662-811d-8e5cfbc41098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建议分工：后勤负责设施清单、维护与安全检查；使用部门确认开放时间、特殊活动和现场体验；数据负责人统一统计口径并保留原始记录；项目协调人组织复盘。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风险：设备改造可能影响照明体验；过度自动化可能造成误关；统计口径变化可能制造虚假改善。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缺少真实对照与现场测量时，结论应保持待验证，不对外宣称节能效果已实现。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下一步：确认现场范围与负责人，补齐真实基线，执行可恢复的试点。</a:t>
            </a:r>
          </a:p>
        </p:txBody>
      </p:sp>
      <p:sp>
        <p:nvSpPr>
          <p:cNvPr id="4" name="object_f26cf121-5b70-4436-ab50-eba0f8d4faa9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10  /  10  ·  来源索引见备注及ObjectMap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校园节能试点：示例数据与实施方案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