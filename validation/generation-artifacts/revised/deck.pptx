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示例月基线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</c:v>
                </c:pt>
                <c:pt idx="1">
                  <c:v>9000</c:v>
                </c:pt>
                <c:pt idx="2">
                  <c:v>8000</c:v>
                </c:pt>
                <c:pt idx="3">
                  <c:v>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试点月目标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10000</c:v>
                </c:pt>
                <c:pt idx="1">
                  <c:v>8000</c:v>
                </c:pt>
                <c:pt idx="2">
                  <c:v>7000</c:v>
                </c:pt>
                <c:pt idx="3">
                  <c:v>5500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来源明确本文数据为演示系统验证用示例，不是某所学校的真实观测、投资承诺或已经实现的节能效果。</a:t>
            </a:r>
          </a:p>
          <a:p/>
          <a:p>
            <a:r>
              <a:t>证据：</a:t>
            </a:r>
          </a:p>
          <a:p>
            <a:r>
              <a:t>evidence_beb36677-c4b2-44c8-93c6-ccff0f377b3c</a:t>
            </a:r>
          </a:p>
          <a:p>
            <a:r>
              <a:t>evidence_f002b6e0-bc93-4682-9452-f1aa8373d6fa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原文核心建议强调基线、小范围改造、安全与体验确认，以及不能仅凭月度总量认定因果效果。</a:t>
            </a:r>
          </a:p>
          <a:p/>
          <a:p>
            <a:r>
              <a:t>证据：</a:t>
            </a:r>
          </a:p>
          <a:p>
            <a:r>
              <a:t>evidence_ec229098-0a7a-4954-94ec-6763e028d16f</a:t>
            </a:r>
          </a:p>
          <a:p>
            <a:r>
              <a:t>evidence_fb653380-d447-46ef-93a4-d541670407d0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原文明确试点覆盖四个区域，比较区间为一个示例月份，并列出首批工作和排除范围。</a:t>
            </a:r>
          </a:p>
          <a:p/>
          <a:p>
            <a:r>
              <a:t>证据：</a:t>
            </a:r>
          </a:p>
          <a:p>
            <a:r>
              <a:t>evidence_e3c959e4-7e86-488c-8319-6ee5934e2e0c</a:t>
            </a:r>
          </a:p>
          <a:p>
            <a:r>
              <a:t>evidence_f5c77227-162d-4b11-810a-da4fcd977b13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原文说明表格中的基线和目标仅用于说明数据组织方法，单位统一为千瓦时，目标是计划值尚未实现。</a:t>
            </a:r>
          </a:p>
          <a:p/>
          <a:p>
            <a:r>
              <a:t>证据：</a:t>
            </a:r>
          </a:p>
          <a:p>
            <a:r>
              <a:t>evidence_4b154e79-e993-4c0e-a0b6-1032055ddf8a</a:t>
            </a:r>
          </a:p>
          <a:p>
            <a:r>
              <a:t>evidence_b5b70e95-81ea-46bb-9cdc-db32a4b177e0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表格数据来自原文，单位为千瓦时，目标为计划值，尚未实现。</a:t>
            </a:r>
          </a:p>
          <a:p/>
          <a:p>
            <a:r>
              <a:t>证据：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原文建议可用原生柱状图并列展示各区域的示例基线与目标，纵轴必须标为千瓦时，系列名称必须明确区分基线和目标。</a:t>
            </a:r>
          </a:p>
          <a:p/>
          <a:p>
            <a:r>
              <a:t>证据：</a:t>
            </a:r>
          </a:p>
          <a:p>
            <a:r>
              <a:t>evidence_f409bfbb-aeaf-4a1c-b098-7d76b15c9b28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原文指出总用电受多种因素影响，不能只凭两个数值认定节能率或项目收益，且本文没有提供真实节能率和投资回收期。</a:t>
            </a:r>
          </a:p>
          <a:p/>
          <a:p>
            <a:r>
              <a:t>证据：</a:t>
            </a:r>
          </a:p>
          <a:p>
            <a:r>
              <a:t>evidence_4744b9eb-d0b9-477f-8b09-16124000baba</a:t>
            </a:r>
          </a:p>
          <a:p>
            <a:r>
              <a:t>evidence_f409bfbb-aeaf-4a1c-b098-7d76b15c9b28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原文列出照明措施、管理措施、自动控制要求，并强调设备更换不能从示例数据直接推定品牌或采购价格。</a:t>
            </a:r>
          </a:p>
          <a:p/>
          <a:p>
            <a:r>
              <a:t>证据：</a:t>
            </a:r>
          </a:p>
          <a:p>
            <a:r>
              <a:t>evidence_e83ca342-86a9-40bc-a018-f4f2c0235e75</a:t>
            </a:r>
          </a:p>
          <a:p>
            <a:r>
              <a:t>evidence_5a1bdd2f-6c7b-42ab-bb75-7c2542d6e2e1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原文按准备、试点、观察、复盘四个阶段说明实施安排，并强调保留原设置、相同口径和综合检查。</a:t>
            </a:r>
          </a:p>
          <a:p/>
          <a:p>
            <a:r>
              <a:t>证据：</a:t>
            </a:r>
          </a:p>
          <a:p>
            <a:r>
              <a:t>evidence_4b548541-cdd4-4b39-844f-b241f4aee7c0</a:t>
            </a:r>
          </a:p>
          <a:p>
            <a:r>
              <a:t>evidence_d449b4dc-e2a9-4fb1-a5ec-fbe282042601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原文说明所有角色是建议分工，不是已经设立的组织；风险与限制包括照明体验、误关和统计口径变化；下一步是确认范围与负责人、补齐真实基线并执行可恢复试点。</a:t>
            </a:r>
          </a:p>
          <a:p/>
          <a:p>
            <a:r>
              <a:t>证据：</a:t>
            </a:r>
          </a:p>
          <a:p>
            <a:r>
              <a:t>evidence_23cdd550-70f1-41f9-88a5-06c86b3c0313</a:t>
            </a:r>
          </a:p>
          <a:p>
            <a:r>
              <a:t>evidence_0a729c6d-3810-477e-887c-3c42842d34eb</a:t>
            </a:r>
          </a:p>
          <a:p>
            <a:r>
              <a:t>evidence_be54dbcb-a86f-4d98-b178-d306d93aafd4</a:t>
            </a:r>
          </a:p>
          <a:p>
            <a:r>
              <a:t>evidence_11156959-029f-471f-939e-a89f46e544b8</a:t>
            </a:r>
          </a:p>
          <a:p>
            <a:r>
              <a:t>evidence_039f3317-cde9-4994-9908-d350156ec0f8</a:t>
            </a:r>
          </a:p>
          <a:p>
            <a:r>
              <a:t>evidence_47d4e1c7-77cb-44e6-b1d1-88b2bd4c3226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baeabe3-ee1f-4d37-996e-5f06c8f48e5e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校园节能试点：示例数据与实施方案</a:t>
            </a:r>
          </a:p>
        </p:txBody>
      </p:sp>
      <p:sp>
        <p:nvSpPr>
          <p:cNvPr id="3" name="object_c82aec9d-684d-4c4b-a0ed-12e40668bc6b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  <a:ea typeface="Noto Sans CJK SC"/>
              </a:defRPr>
            </a:pPr>
            <a:r>
              <a:t>全部数据为演示系统验证用的示例。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不代表学校真实观测、投资承诺或已实现的节能效果。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应保留数据性质和单位，区分目标与结果。</a:t>
            </a:r>
          </a:p>
        </p:txBody>
      </p:sp>
      <p:sp>
        <p:nvSpPr>
          <p:cNvPr id="4" name="object_14e85797-799d-433c-bb54-3da5afee865a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01  /  10  ·  来源索引见备注及ObjectMap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27b4995-4098-43f5-b125-f2ca6ab8914e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核心建议：先基线，再小范围改造</a:t>
            </a:r>
          </a:p>
        </p:txBody>
      </p:sp>
      <p:sp>
        <p:nvSpPr>
          <p:cNvPr id="3" name="object_00e67d1f-abd6-4352-86f5-d21ecd72dd03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先建立清楚的用电基线，再小范围改造与测量。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确认安全和使用体验后再考虑扩大。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节能需设备、使用方式和管理流程共同配合。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单看月度总量不能证明改造产生因果效果。</a:t>
            </a:r>
          </a:p>
        </p:txBody>
      </p:sp>
      <p:sp>
        <p:nvSpPr>
          <p:cNvPr id="4" name="object_61c7d492-521e-4235-bfd0-a522c8150dc2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02  /  10  ·  来源索引见备注及ObjectMap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5d7eeb7-8b45-4c1c-82c8-57782b3400ca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试点范围：四区域与首批工作</a:t>
            </a:r>
          </a:p>
        </p:txBody>
      </p:sp>
      <p:sp>
        <p:nvSpPr>
          <p:cNvPr id="3" name="object_b89e69b9-105d-4d95-a64e-cfb3b8016398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试点覆盖教学楼A、教学楼B、图书馆和体育馆。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比较区间统一为一个示例月份。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教学楼照明与公共区域控制作为首批工作。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实验室、消防和应急照明不进入自动断电范围。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范围扩大前必须重新检查安全要求。</a:t>
            </a:r>
          </a:p>
        </p:txBody>
      </p:sp>
      <p:sp>
        <p:nvSpPr>
          <p:cNvPr id="4" name="object_cb1f5a46-e8d7-4d6b-883b-a99ab77b6308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03  /  10  ·  来源索引见备注及ObjectMap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02b4c77-67b8-46bd-908d-460625f120e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示例基线与目标：仅说明数据组织方法</a:t>
            </a:r>
          </a:p>
        </p:txBody>
      </p:sp>
      <p:sp>
        <p:nvSpPr>
          <p:cNvPr id="3" name="object_f5be6f22-a5ae-4afb-83cc-adb6074b1a7e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基线和目标仅用于说明数据组织方法，单位统一为千瓦时。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目标是计划值，尚未实现。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不能作为改造后的实际测量。</a:t>
            </a:r>
          </a:p>
        </p:txBody>
      </p:sp>
      <p:sp>
        <p:nvSpPr>
          <p:cNvPr id="4" name="object_bd19c0ff-720e-45b5-808d-f521fb3f276c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04  /  10  ·  来源索引见备注及ObjectMap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b56a111-b1e6-41c9-87a9-355fb6c8719d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各区域示例月基线与试点月目标</a:t>
            </a:r>
          </a:p>
        </p:txBody>
      </p:sp>
      <p:sp>
        <p:nvSpPr>
          <p:cNvPr id="3" name="object_e23074d4-a6a0-42e9-bdf8-81a95ed733e6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单位：千瓦时；目标为计划值，尚未实现。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数据仅用于说明数据组织方法。</a:t>
            </a:r>
          </a:p>
        </p:txBody>
      </p:sp>
      <p:graphicFrame>
        <p:nvGraphicFramePr>
          <p:cNvPr id="4" name="object_d08bd9c9-44a4-446a-82d1-f9ea72a1a371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126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示例月基线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试点月目标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教学楼A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教学楼B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图书馆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体育馆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5500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c7f607b1-28df-49d6-924e-91c65e1a22c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05  /  10  ·  来源索引见备注及ObjectMap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c4559212-a623-4051-9f66-3c0c2d8a8c8c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示例基线与目标对比图</a:t>
            </a:r>
          </a:p>
        </p:txBody>
      </p:sp>
      <p:sp>
        <p:nvSpPr>
          <p:cNvPr id="3" name="object_212c9266-c2c2-413a-951b-2c76ff01fc7f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纵轴单位：千瓦时；系列区分基线和目标。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目标为计划值，尚未实现。</a:t>
            </a:r>
          </a:p>
        </p:txBody>
      </p:sp>
      <p:graphicFrame>
        <p:nvGraphicFramePr>
          <p:cNvPr id="4" name="object_6970b222-c431-4e60-9852-9fc5eeb3758f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a3f7ca58-7bc1-49c4-b2d3-a5baf09b373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06  /  10  ·  来源索引见备注及ObjectMap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c637f4a-df61-4e08-b987-c4c3d4ab725b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数据解读：不能只凭两个数值认定节能率</a:t>
            </a:r>
          </a:p>
        </p:txBody>
      </p:sp>
      <p:sp>
        <p:nvSpPr>
          <p:cNvPr id="3" name="object_4f4e69b4-82c7-478e-835b-9ef7a17e169f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总用电受开放时间、人员规模、天气和活动安排影响。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不能只凭两个数值认定节能率或项目收益。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本文没有提供真实节能率和投资回收期。</a:t>
            </a:r>
          </a:p>
        </p:txBody>
      </p:sp>
      <p:sp>
        <p:nvSpPr>
          <p:cNvPr id="4" name="object_d089773d-16f1-48d2-87e0-0956ba2f2e5b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07  /  10  ·  来源索引见备注及ObjectMap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64a3f82-c4a6-43c6-8aa0-a388cc405436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改造措施：照明、管理与设备选择</a:t>
            </a:r>
          </a:p>
        </p:txBody>
      </p:sp>
      <p:sp>
        <p:nvSpPr>
          <p:cNvPr id="3" name="object_b13ed328-971d-4d22-918a-a2c962bc1766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照明措施：检查空置时段、分区控制、自然采光配合、维护故障灯具。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管理措施：巡查记录、异常反馈和负责人确认。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自动控制应允许人工覆盖，并保留应急照明。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设备更换需结合现有设施实际情况选择，不能从示例数据推定品牌或采购价格。</a:t>
            </a:r>
          </a:p>
        </p:txBody>
      </p:sp>
      <p:sp>
        <p:nvSpPr>
          <p:cNvPr id="4" name="object_8616426b-9933-4cfc-8634-6b1f07512ffe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08  /  10  ·  来源索引见备注及ObjectMap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fcc88a45-87f5-4e54-89d0-bd95c09cc91b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实施安排：准备、试点、观察、复盘</a:t>
            </a:r>
          </a:p>
        </p:txBody>
      </p:sp>
      <p:sp>
        <p:nvSpPr>
          <p:cNvPr id="3" name="object_848972d2-5ead-4532-9ef3-b6c2c4496b58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准备阶段：完成设施清单、基线记录和安全检查。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试点阶段：按区域逐步实施，保留原设置以便恢复。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观察阶段：对比相同口径数据，记录开放时长与活动变化。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复盘阶段：检查能耗、照明体验、安全反馈和维护负担，再决定继续、调整或停止。</a:t>
            </a:r>
          </a:p>
        </p:txBody>
      </p:sp>
      <p:sp>
        <p:nvSpPr>
          <p:cNvPr id="4" name="object_eb698908-da33-4516-8eae-28679d25dbc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09  /  10  ·  来源索引见备注及ObjectMap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b519f47-d642-40e6-bdd4-b5db90d4bc1a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责任分工、风险限制与验证下一步</a:t>
            </a:r>
          </a:p>
        </p:txBody>
      </p:sp>
      <p:sp>
        <p:nvSpPr>
          <p:cNvPr id="3" name="object_4f485133-dfa2-4bfd-94aa-ce361c6fbb95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建议分工：后勤负责设施与安全，使用部门确认开放与体验，数据负责人统一口径，项目协调人组织复盘。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风险：设备改造可能影响照明体验，过度自动化可能误关，统计口径变化可能制造虚假改善。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应建立人工恢复、特殊活动例外和一致数据记录。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缺少真实对照与现场测量时，结论应保持待验证。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下一步：确认现场范围与负责人，补齐真实基线，执行可恢复试点。</a:t>
            </a:r>
          </a:p>
        </p:txBody>
      </p:sp>
      <p:sp>
        <p:nvSpPr>
          <p:cNvPr id="4" name="object_3c83720a-d40a-4a71-9511-5513e7eaa405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10  /  10  ·  来源索引见备注及ObjectMap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校园节能试点：示例数据与实施方案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