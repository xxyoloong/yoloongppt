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示例月基线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9000</c:v>
                </c:pt>
                <c:pt idx="2">
                  <c:v>8000</c:v>
                </c:pt>
                <c:pt idx="3">
                  <c:v>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试点月目标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8000</c:v>
                </c:pt>
                <c:pt idx="2">
                  <c:v>7000</c:v>
                </c:pt>
                <c:pt idx="3">
                  <c:v>5500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来源：evidence_beb36677、evidence_f002b6e0。强调示例性质，避免被误读为真实项目数据。</a:t>
            </a:r>
          </a:p>
          <a:p/>
          <a:p>
            <a:r>
              <a:t>证据：</a:t>
            </a:r>
          </a:p>
          <a:p>
            <a:r>
              <a:t>evidence_beb36677-c4b2-44c8-93c6-ccff0f377b3c</a:t>
            </a:r>
          </a:p>
          <a:p>
            <a:r>
              <a:t>evidence_f002b6e0-bc93-4682-9452-f1aa8373d6fa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来源：evidence_ec229098、evidence_fb653380。核心建议强调基线、小范围、安全体验和因果限制。</a:t>
            </a:r>
          </a:p>
          <a:p/>
          <a:p>
            <a:r>
              <a:t>证据：</a:t>
            </a:r>
          </a:p>
          <a:p>
            <a:r>
              <a:t>evidence_ec229098-0a7a-4954-94ec-6763e028d16f</a:t>
            </a:r>
          </a:p>
          <a:p>
            <a:r>
              <a:t>evidence_fb653380-d447-46ef-93a4-d541670407d0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来源：evidence_e3c959e4、evidence_f5c77227。明确首批工作与安全排除项。</a:t>
            </a:r>
          </a:p>
          <a:p/>
          <a:p>
            <a:r>
              <a:t>证据：</a:t>
            </a:r>
          </a:p>
          <a:p>
            <a:r>
              <a:t>evidence_e3c959e4-7e86-488c-8319-6ee5934e2e0c</a:t>
            </a:r>
          </a:p>
          <a:p>
            <a:r>
              <a:t>evidence_f5c77227-162d-4b11-810a-da4fcd977b13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来源：evidence_4b154e79、evidence_b5b70e95、evidence_bafc9cf6。表格数据为示例，单位统一为千瓦时。</a:t>
            </a:r>
          </a:p>
          <a:p/>
          <a:p>
            <a:r>
              <a:t>证据：</a:t>
            </a:r>
          </a:p>
          <a:p>
            <a:r>
              <a:t>evidence_4b154e79-e993-4c0e-a0b6-1032055ddf8a</a:t>
            </a:r>
          </a:p>
          <a:p>
            <a:r>
              <a:t>evidence_b5b70e95-81ea-46bb-9cdc-db32a4b177e0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来源：evidence_f409bfbb。原文建议用原生柱状图并列展示，纵轴标为千瓦时，系列名称明确区分基线和目标。</a:t>
            </a:r>
          </a:p>
          <a:p/>
          <a:p>
            <a:r>
              <a:t>证据：</a:t>
            </a:r>
          </a:p>
          <a:p>
            <a:r>
              <a:t>evidence_f409bfbb-aeaf-4a1c-b098-7d76b15c9b28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来源：evidence_4744b9eb、evidence_f409bfbb。强调因果推断限制和缺失数据。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来源：evidence_e83ca342、evidence_5a1bdd2f。措施分为照明和管理两类，并强调人工覆盖与应急照明。</a:t>
            </a:r>
          </a:p>
          <a:p/>
          <a:p>
            <a:r>
              <a:t>证据：</a:t>
            </a:r>
          </a:p>
          <a:p>
            <a:r>
              <a:t>evidence_e83ca342-86a9-40bc-a018-f4f2c0235e75</a:t>
            </a:r>
          </a:p>
          <a:p>
            <a:r>
              <a:t>evidence_5a1bdd2f-6c7b-42ab-bb75-7c2542d6e2e1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来源：evidence_4b548541、evidence_d449b4dc。四阶段安排来自原文。</a:t>
            </a:r>
          </a:p>
          <a:p/>
          <a:p>
            <a:r>
              <a:t>证据：</a:t>
            </a:r>
          </a:p>
          <a:p>
            <a:r>
              <a:t>evidence_4b548541-cdd4-4b39-844f-b241f4aee7c0</a:t>
            </a:r>
          </a:p>
          <a:p>
            <a:r>
              <a:t>evidence_d449b4dc-e2a9-4fb1-a5ec-fbe282042601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来源：evidence_23cdd550、evidence_0a729c6d。强调角色为建议分工。</a:t>
            </a:r>
          </a:p>
          <a:p/>
          <a:p>
            <a:r>
              <a:t>证据：</a:t>
            </a:r>
          </a:p>
          <a:p>
            <a:r>
              <a:t>evidence_23cdd550-70f1-41f9-88a5-06c86b3c0313</a:t>
            </a:r>
          </a:p>
          <a:p>
            <a:r>
              <a:t>evidence_0a729c6d-3810-477e-887c-3c42842d34eb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来源：evidence_be54dbcb、evidence_11156959、evidence_039f3317、evidence_47d4e1c7。本文仅用于生成系统验证，不替代现场实施审批。</a:t>
            </a:r>
          </a:p>
          <a:p/>
          <a:p>
            <a:r>
              <a:t>证据：</a:t>
            </a:r>
          </a:p>
          <a:p>
            <a:r>
              <a:t>evidence_be54dbcb-a86f-4d98-b178-d306d93aafd4</a:t>
            </a:r>
          </a:p>
          <a:p>
            <a:r>
              <a:t>evidence_11156959-029f-471f-939e-a89f46e544b8</a:t>
            </a:r>
          </a:p>
          <a:p>
            <a:r>
              <a:t>evidence_039f3317-cde9-4994-9908-d350156ec0f8</a:t>
            </a:r>
          </a:p>
          <a:p>
            <a:r>
              <a:t>evidence_47d4e1c7-77cb-44e6-b1d1-88b2bd4c3226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af1d038-fc63-4048-8fe9-187e02fc75de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校园节能试点：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示例数据与实施方案</a:t>
            </a:r>
          </a:p>
        </p:txBody>
      </p:sp>
      <p:sp>
        <p:nvSpPr>
          <p:cNvPr id="3" name="object_54aed4d7-f07b-4d8f-a0ca-feae2f72afcb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本文全部数据为演示系统验证用示例，非真实观测。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不是投资承诺，也不是已实现的节能效果。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面向学校管理团队组织约10页中文汇报。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保留数据性质和单位，不把目标写成结果。</a:t>
            </a:r>
          </a:p>
        </p:txBody>
      </p:sp>
      <p:sp>
        <p:nvSpPr>
          <p:cNvPr id="4" name="object_0c2e16d4-8855-4f19-be8f-6da5e822fa2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0dd2de2-49d9-4aae-9cd3-9ec4eb52ff9e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核心建议：先基线，再小范围试点</a:t>
            </a:r>
          </a:p>
        </p:txBody>
      </p:sp>
      <p:sp>
        <p:nvSpPr>
          <p:cNvPr id="3" name="object_38408a1c-a60a-4be4-8238-dff99180c03f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先建立清楚的用电基线，再小范围改造与测量。</a:t>
            </a:r>
          </a:p>
        </p:txBody>
      </p:sp>
      <p:sp>
        <p:nvSpPr>
          <p:cNvPr id="4" name="object_1deb5359-4db8-41ba-8e93-4c161fede686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确认安全和使用体验后，再考虑扩大。</a:t>
            </a:r>
          </a:p>
        </p:txBody>
      </p:sp>
      <p:sp>
        <p:nvSpPr>
          <p:cNvPr id="5" name="object_68745835-516f-4032-be9e-2130a9c7dc6a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节能需设备、使用方式和管理流程共同配合。</a:t>
            </a:r>
          </a:p>
        </p:txBody>
      </p:sp>
      <p:sp>
        <p:nvSpPr>
          <p:cNvPr id="6" name="object_dba3a4ef-7cf2-48e2-9e8b-acaaad6a9adf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单看月度总量不能证明改造产生因果效果。</a:t>
            </a:r>
          </a:p>
        </p:txBody>
      </p:sp>
      <p:sp>
        <p:nvSpPr>
          <p:cNvPr id="7" name="object_30cc95cf-5553-428e-8322-7c1d6da5789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7634063-4864-4747-aafb-cf8591c1da51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试点范围与安全边界</a:t>
            </a:r>
          </a:p>
        </p:txBody>
      </p:sp>
      <p:sp>
        <p:nvSpPr>
          <p:cNvPr id="3" name="object_935808d9-549a-4f50-b63c-7990f7a520af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覆盖教学楼A、教学楼B、图书馆和体育馆。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比较区间统一为一个示例月份。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教学楼照明与公共区域控制作为首批工作。</a:t>
            </a:r>
          </a:p>
        </p:txBody>
      </p:sp>
      <p:sp>
        <p:nvSpPr>
          <p:cNvPr id="4" name="object_5b7af915-6124-4417-b412-1788f14032df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实验室、消防和应急照明不进入自动断电范围。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范围扩大前必须重新检查安全要求。</a:t>
            </a:r>
          </a:p>
        </p:txBody>
      </p:sp>
      <p:sp>
        <p:nvSpPr>
          <p:cNvPr id="5" name="object_e170c61a-4564-43db-8c12-de1874c59ce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3d8beca-287f-45f0-953d-c0cc419271b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示例基线与目标（单位：千瓦时）</a:t>
            </a:r>
          </a:p>
        </p:txBody>
      </p:sp>
      <p:sp>
        <p:nvSpPr>
          <p:cNvPr id="3" name="object_426cd3d7-7922-4c08-a316-c29eddcc9275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基线和目标仅用于说明数据组织方法。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目标是计划值，尚未实现，不能作为实际测量。</a:t>
            </a:r>
          </a:p>
        </p:txBody>
      </p:sp>
      <p:graphicFrame>
        <p:nvGraphicFramePr>
          <p:cNvPr id="4" name="object_3a786825-3d0c-4787-abe1-2848340b7a03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8375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示例月基线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试点月目标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图书馆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体育馆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5500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6edffafa-176d-405e-9488-c1b7cd107eb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2ed973c-5226-49cf-8f4a-f4ca5336edb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示例基线与目标对比（千瓦时）</a:t>
            </a:r>
          </a:p>
        </p:txBody>
      </p:sp>
      <p:sp>
        <p:nvSpPr>
          <p:cNvPr id="3" name="object_fcc14eac-e833-4a4f-895c-b4fe36b69409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纵轴单位为千瓦时，系列区分基线和目标。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图表数据为示例，不是真实观测或已实现效果。</a:t>
            </a:r>
          </a:p>
        </p:txBody>
      </p:sp>
      <p:graphicFrame>
        <p:nvGraphicFramePr>
          <p:cNvPr id="4" name="object_0b64355d-acbc-42d9-b33b-226e471130b5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6a82f985-d9ac-4a8b-89b1-b8456eb2b8d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91571096-684b-4c3d-9012-aafe0734057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数据解读：不能只凭两个数值下结论</a:t>
            </a:r>
          </a:p>
        </p:txBody>
      </p:sp>
      <p:sp>
        <p:nvSpPr>
          <p:cNvPr id="3" name="object_dc0b37b0-13fc-47d1-9d0a-f74e08a6ec37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</p:txBody>
      </p:sp>
      <p:sp>
        <p:nvSpPr>
          <p:cNvPr id="4" name="object_a0535c44-d3ed-4ce1-8afa-0fc90be3435b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不能只凭两个数值认定节能率或项目收益。</a:t>
            </a:r>
          </a:p>
        </p:txBody>
      </p:sp>
      <p:sp>
        <p:nvSpPr>
          <p:cNvPr id="5" name="object_75abeae5-96b7-44e2-bbb4-65b0f54f9f20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本文没有提供真实节能率和投资回收期。</a:t>
            </a:r>
          </a:p>
        </p:txBody>
      </p:sp>
      <p:sp>
        <p:nvSpPr>
          <p:cNvPr id="6" name="object_9d856bf7-5312-4991-9004-a2f07614185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8a4c2b2-9cc4-44a9-a056-78e864130fa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改造措施：照明与管理并重</a:t>
            </a:r>
          </a:p>
        </p:txBody>
      </p:sp>
      <p:sp>
        <p:nvSpPr>
          <p:cNvPr id="3" name="object_8829e3ac-5a42-44f9-81c9-596b2f2f4c14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照明措施：检查空置时段、分区控制、自然采光配合、维护故障灯具。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管理措施：巡查记录、异常反馈和负责人确认。</a:t>
            </a:r>
          </a:p>
        </p:txBody>
      </p:sp>
      <p:sp>
        <p:nvSpPr>
          <p:cNvPr id="4" name="object_d6fe49b0-7743-4ac8-85d3-ccdb36ec41b8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自动控制应允许人工覆盖，并保留应急照明。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设备更换需结合现有设施，不能从示例数据推定品牌或价格。</a:t>
            </a:r>
          </a:p>
        </p:txBody>
      </p:sp>
      <p:sp>
        <p:nvSpPr>
          <p:cNvPr id="5" name="object_f4bf5d8b-c426-407d-ad6f-5cb9eaec46ba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0a2ec23-4675-4ffe-b5c0-248ec1a7953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实施安排：四阶段推进</a:t>
            </a:r>
          </a:p>
        </p:txBody>
      </p:sp>
      <p:sp>
        <p:nvSpPr>
          <p:cNvPr id="3" name="object_374cd3a4-0286-4fbd-a8b4-d997ed4dbf73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准备阶段：完成设施清单、基线记录和安全检查。</a:t>
            </a:r>
          </a:p>
        </p:txBody>
      </p:sp>
      <p:sp>
        <p:nvSpPr>
          <p:cNvPr id="4" name="object_cbc97d03-09a1-4255-9d1d-802a3c3e4cc5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试点阶段：按区域逐步实施，保留原设置以便恢复。</a:t>
            </a:r>
          </a:p>
        </p:txBody>
      </p:sp>
      <p:sp>
        <p:nvSpPr>
          <p:cNvPr id="5" name="object_997927e0-fcae-431d-b078-b2ab20e2552d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观察阶段：对比相同口径数据，记录开放时长与活动变化。</a:t>
            </a:r>
          </a:p>
        </p:txBody>
      </p:sp>
      <p:sp>
        <p:nvSpPr>
          <p:cNvPr id="6" name="object_4537c211-0b02-464e-a209-12ed01973666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复盘阶段：检查能耗、照明体验、安全反馈和维护负担，再决定继续、调整或停止。</a:t>
            </a:r>
          </a:p>
        </p:txBody>
      </p:sp>
      <p:sp>
        <p:nvSpPr>
          <p:cNvPr id="7" name="object_ce6fee57-4c30-4fa2-951d-a97e68309f7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cffc5d8-f8fd-4905-9fa4-9583e82d758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责任分工：建议角色，尚未设立</a:t>
            </a:r>
          </a:p>
        </p:txBody>
      </p:sp>
      <p:sp>
        <p:nvSpPr>
          <p:cNvPr id="3" name="object_089dd1b2-53ec-4fea-a102-6e6bd8d4cd3b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后勤团队：设施清单、维护与安全检查。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使用部门：确认开放时间、特殊活动和现场体验。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数据负责人：统一统计口径并保留原始记录。</a:t>
            </a:r>
          </a:p>
        </p:txBody>
      </p:sp>
      <p:sp>
        <p:nvSpPr>
          <p:cNvPr id="4" name="object_b3593965-554c-4a82-96dd-4da775fa5185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项目协调人：组织复盘，确认问题处理人和关闭依据。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所有角色是建议分工，不是已经设立的组织。</a:t>
            </a:r>
          </a:p>
        </p:txBody>
      </p:sp>
      <p:sp>
        <p:nvSpPr>
          <p:cNvPr id="5" name="object_3fa5426b-07a3-4255-9609-d2f911f6a64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0193b5d-ad66-47a3-b65f-151bd05203b1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风险、限制与验证下一步</a:t>
            </a:r>
          </a:p>
        </p:txBody>
      </p:sp>
      <p:sp>
        <p:nvSpPr>
          <p:cNvPr id="3" name="object_fab28ff0-3375-4995-aa6a-57ce531d53fa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设备改造可能影响照明体验；过度自动化可能造成误关。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统计口径变化可能制造虚假的节能改善。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应建立人工恢复方式、特殊活动例外和一致的数据记录。</a:t>
            </a:r>
          </a:p>
        </p:txBody>
      </p:sp>
      <p:sp>
        <p:nvSpPr>
          <p:cNvPr id="4" name="object_3df2f213-7790-4641-9d3c-eaa2a20b56ac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缺少真实对照与现场测量时，结论应保持待验证。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下一步：确认现场范围与负责人，补齐真实基线，执行可恢复试点。</a:t>
            </a:r>
          </a:p>
        </p:txBody>
      </p:sp>
      <p:sp>
        <p:nvSpPr>
          <p:cNvPr id="5" name="object_2aa2bc47-4886-45a8-850f-97af0049fb1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校园节能试点：示例数据与实施方案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