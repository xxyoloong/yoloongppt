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用电量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Sheet1!$A$2:$A$5</c:f>
              <c:strCache>
                <c:ptCount val="4"/>
                <c:pt idx="0">
                  <c:v>2026-01-01</c:v>
                </c:pt>
                <c:pt idx="1">
                  <c:v>2026-02-01</c:v>
                </c:pt>
                <c:pt idx="2">
                  <c:v>2026-03-01</c:v>
                </c:pt>
                <c:pt idx="3">
                  <c:v>三个月合计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</c:v>
                </c:pt>
                <c:pt idx="1">
                  <c:v>1300</c:v>
                </c:pt>
                <c:pt idx="2">
                  <c:v>1250</c:v>
                </c:pt>
                <c:pt idx="3">
                  <c:v>3750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降低比例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Sheet1!$A$2:$A$4</c:f>
              <c:strCache>
                <c:ptCount val="3"/>
                <c:pt idx="0">
                  <c:v>2026-01-01</c:v>
                </c:pt>
                <c:pt idx="1">
                  <c:v>2026-02-01</c:v>
                </c:pt>
                <c:pt idx="2">
                  <c:v>2026-03-01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用电量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72</c:v>
                </c:pt>
                <c:pt idx="2">
                  <c:v>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来源为两sheet人工验证数据，原文逐格标注“人工验证数据，非真实业务”。本页仅说明字段与单位边界，不新增统计或因果。</a:t>
            </a:r>
          </a:p>
          <a:p/>
          <a:p>
            <a:r>
              <a:t>证据：</a:t>
            </a:r>
          </a:p>
          <a:p>
            <a:r>
              <a:t>evidence_9714ce61-1537-454d-9fea-0964c9be109e</a:t>
            </a:r>
          </a:p>
          <a:p>
            <a:r>
              <a:t>evidence_8febd9e9-b891-4805-b7dc-39fe7e9a281e</a:t>
            </a:r>
          </a:p>
          <a:p>
            <a:r>
              <a:t>evidence_9e67d8cd-b879-4c23-84cd-1a2dc75bf505</a:t>
            </a:r>
          </a:p>
          <a:p>
            <a:r>
              <a:t>evidence_b0768129-532f-43be-ba67-179768233605</a:t>
            </a:r>
          </a:p>
          <a:p>
            <a:r>
              <a:t>evidence_29169918-a9b2-4a0b-a072-ddee6ce1c75a</a:t>
            </a:r>
          </a:p>
          <a:p>
            <a:r>
              <a:t>evidence_53ff6ba3-6f07-4acb-8cd8-6500f37be18b</a:t>
            </a:r>
          </a:p>
          <a:p>
            <a:r>
              <a:t>evidence_38189e5a-d978-43e4-b77e-f1da0ee40fe9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表格逐格对应原文：日期A2-A5、用电量B2-B5、降低比例C2-C4、性质D2-D5。三个月合计行降低比例列原文为空，按placeholder标注“待确认”，不补值。全部数据为人工验证数据，非真实业务。</a:t>
            </a:r>
          </a:p>
          <a:p/>
          <a:p>
            <a:r>
              <a:t>证据：</a:t>
            </a:r>
          </a:p>
          <a:p>
            <a:r>
              <a:t>evidence_9714ce61-1537-454d-9fea-0964c9be109e</a:t>
            </a:r>
          </a:p>
          <a:p>
            <a:r>
              <a:t>evidence_8febd9e9-b891-4805-b7dc-39fe7e9a281e</a:t>
            </a:r>
          </a:p>
          <a:p>
            <a:r>
              <a:t>evidence_9e67d8cd-b879-4c23-84cd-1a2dc75bf505</a:t>
            </a:r>
          </a:p>
          <a:p>
            <a:r>
              <a:t>evidence_b0768129-532f-43be-ba67-179768233605</a:t>
            </a:r>
          </a:p>
          <a:p>
            <a:r>
              <a:t>evidence_14897576-1ebc-418b-9f50-77dd69673b73</a:t>
            </a:r>
          </a:p>
          <a:p>
            <a:r>
              <a:t>evidence_394a50ce-2f1a-4b9c-b18e-42772c2217a8</a:t>
            </a:r>
          </a:p>
          <a:p>
            <a:r>
              <a:t>evidence_a891a23b-3f2a-4b21-ac95-330379c517dd</a:t>
            </a:r>
          </a:p>
          <a:p>
            <a:r>
              <a:t>evidence_232e7f2e-d86f-442b-8243-9045e6da3550</a:t>
            </a:r>
          </a:p>
          <a:p>
            <a:r>
              <a:t>evidence_2d27d9ba-035f-42a3-81cd-ec51dce7703d</a:t>
            </a:r>
          </a:p>
          <a:p>
            <a:r>
              <a:t>evidence_679631cb-46eb-4820-a624-a89c408064ea</a:t>
            </a:r>
          </a:p>
          <a:p>
            <a:r>
              <a:t>evidence_18c0189d-ee0a-4a36-a6f9-f06e7032230e</a:t>
            </a:r>
          </a:p>
          <a:p>
            <a:r>
              <a:t>evidence_55da0c5a-06ed-4677-9891-4bc88b75e66e</a:t>
            </a:r>
          </a:p>
          <a:p>
            <a:r>
              <a:t>evidence_3c3a80a1-cbd9-4efc-992e-7c16fd9a0dd2</a:t>
            </a:r>
          </a:p>
          <a:p>
            <a:r>
              <a:t>evidence_37742cf0-5936-4d9b-b598-b7bc16d829fe</a:t>
            </a:r>
          </a:p>
          <a:p>
            <a:r>
              <a:t>evidence_6f0ff33a-37e3-4a45-a4b1-424544e45169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数值取自原文B2-B5：1200、1300、1250、3750千瓦时。合计行原文已给出3750千瓦时，本页直接引用，不重新计算。全部为人工验证数据，非真实业务。</a:t>
            </a:r>
          </a:p>
          <a:p/>
          <a:p>
            <a:r>
              <a:t>证据：</a:t>
            </a:r>
          </a:p>
          <a:p>
            <a:r>
              <a:t>evidence_8febd9e9-b891-4805-b7dc-39fe7e9a281e</a:t>
            </a:r>
          </a:p>
          <a:p>
            <a:r>
              <a:t>evidence_394a50ce-2f1a-4b9c-b18e-42772c2217a8</a:t>
            </a:r>
          </a:p>
          <a:p>
            <a:r>
              <a:t>evidence_679631cb-46eb-4820-a624-a89c408064ea</a:t>
            </a:r>
          </a:p>
          <a:p>
            <a:r>
              <a:t>evidence_37742cf0-5936-4d9b-b598-b7bc16d829fe</a:t>
            </a:r>
          </a:p>
          <a:p>
            <a:r>
              <a:t>evidence_3c3a80a1-cbd9-4efc-992e-7c16fd9a0dd2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数值取自原文C2-C4：8%、9%、10%。三个月合计行降低比例列原文为空，按placeholder标注“待确认”，不补值、不推算。全部为人工验证数据，非真实业务。</a:t>
            </a:r>
          </a:p>
          <a:p/>
          <a:p>
            <a:r>
              <a:t>证据：</a:t>
            </a:r>
          </a:p>
          <a:p>
            <a:r>
              <a:t>evidence_9e67d8cd-b879-4c23-84cd-1a2dc75bf505</a:t>
            </a:r>
          </a:p>
          <a:p>
            <a:r>
              <a:t>evidence_a891a23b-3f2a-4b21-ac95-330379c517dd</a:t>
            </a:r>
          </a:p>
          <a:p>
            <a:r>
              <a:t>evidence_18c0189d-ee0a-4a36-a6f9-f06e7032230e</a:t>
            </a:r>
          </a:p>
          <a:p>
            <a:r>
              <a:t>evidence_3c3a80a1-cbd9-4efc-992e-7c16fd9a0dd2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表格逐格对应原文：分类A2-A4、用电量B2-B4、性质C2-C4。分类数据表原文无日期或期间列，按placeholder标注“待确认”，不绑定时间范围。全部为人工验证数据，非真实业务。</a:t>
            </a:r>
          </a:p>
          <a:p/>
          <a:p>
            <a:r>
              <a:t>证据：</a:t>
            </a:r>
          </a:p>
          <a:p>
            <a:r>
              <a:t>evidence_29169918-a9b2-4a0b-a072-ddee6ce1c75a</a:t>
            </a:r>
          </a:p>
          <a:p>
            <a:r>
              <a:t>evidence_53ff6ba3-6f07-4acb-8cd8-6500f37be18b</a:t>
            </a:r>
          </a:p>
          <a:p>
            <a:r>
              <a:t>evidence_38189e5a-d978-43e4-b77e-f1da0ee40fe9</a:t>
            </a:r>
          </a:p>
          <a:p>
            <a:r>
              <a:t>evidence_50fdf42c-6649-47af-a4ea-b7eef6c67e39</a:t>
            </a:r>
          </a:p>
          <a:p>
            <a:r>
              <a:t>evidence_65b8da63-d419-4b8e-b000-3f3bcbaec911</a:t>
            </a:r>
          </a:p>
          <a:p>
            <a:r>
              <a:t>evidence_00f1bcbc-b0ca-47d8-8aac-03945b8e0748</a:t>
            </a:r>
          </a:p>
          <a:p>
            <a:r>
              <a:t>evidence_16f78624-231d-4c14-b6a6-e7c8604ee7f1</a:t>
            </a:r>
          </a:p>
          <a:p>
            <a:r>
              <a:t>evidence_f4c4a46e-4358-414e-a826-1aa4484f9b08</a:t>
            </a:r>
          </a:p>
          <a:p>
            <a:r>
              <a:t>evidence_b2d6e301-afcc-430a-8e8e-3d7f8022619f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数值取自原文B2-B4：90、72、54千瓦时。分类数据表原文无日期或期间列，不绑定时间范围。全部为人工验证数据，非真实业务。</a:t>
            </a:r>
          </a:p>
          <a:p/>
          <a:p>
            <a:r>
              <a:t>证据：</a:t>
            </a:r>
          </a:p>
          <a:p>
            <a:r>
              <a:t>evidence_53ff6ba3-6f07-4acb-8cd8-6500f37be18b</a:t>
            </a:r>
          </a:p>
          <a:p>
            <a:r>
              <a:t>evidence_65b8da63-d419-4b8e-b000-3f3bcbaec911</a:t>
            </a:r>
          </a:p>
          <a:p>
            <a:r>
              <a:t>evidence_f4c4a46e-4358-414e-a826-1aa4484f9b08</a:t>
            </a:r>
          </a:p>
          <a:p>
            <a:r>
              <a:t>evidence_29169918-a9b2-4a0b-a072-ddee6ce1c75a</a:t>
            </a:r>
          </a:p>
          <a:p>
            <a:r>
              <a:t>evidence_50fdf42c-6649-47af-a4ea-b7eef6c67e39</a:t>
            </a:r>
          </a:p>
          <a:p>
            <a:r>
              <a:t>evidence_16f78624-231d-4c14-b6a6-e7c8604ee7f1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60d98a9-d362-4398-8e45-4b90a20b3e30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人工验证用电数据总览（非真实业务）</a:t>
            </a:r>
          </a:p>
        </p:txBody>
      </p:sp>
      <p:sp>
        <p:nvSpPr>
          <p:cNvPr id="3" name="object_7324da7b-8b1d-4ab0-94e9-9cffbdd414ed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本演示依据两sheet人工验证数据整理：月度数据与分类数据。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全部数据均标注“人工验证数据，非真实业务”。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月度数据字段：日期、用电量（千瓦时）、降低比例（%）、性质。</a:t>
            </a:r>
          </a:p>
        </p:txBody>
      </p:sp>
      <p:sp>
        <p:nvSpPr>
          <p:cNvPr id="4" name="object_ee6cb0f5-c9df-482d-b8ab-f84de8e1aada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分类数据字段：分类、用电量（千瓦时）、性质。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用电量单位为千瓦时，降低比例单位为%，两者单位不同，不置于同一数值轴。</a:t>
            </a:r>
          </a:p>
        </p:txBody>
      </p:sp>
      <p:sp>
        <p:nvSpPr>
          <p:cNvPr id="5" name="object_522cd8f6-a796-4ac8-ad17-a1d218960b8c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1992edb9-5c67-40cd-a699-c3d24e50d72e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月度数据完整表（人工验证，非真实业务）</a:t>
            </a:r>
          </a:p>
        </p:txBody>
      </p:sp>
      <p:sp>
        <p:nvSpPr>
          <p:cNvPr id="3" name="object_bd6b1dce-3fc0-4591-b80b-0f7eea499808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表格完整保留日期、用电量（千瓦时）、降低比例（%）、性质四列及三个月合计行。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三个月合计行降低比例列为空，原文未提供，标注“待确认”。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用电量：千瓦时；降低比例：%</a:t>
            </a:r>
          </a:p>
        </p:txBody>
      </p:sp>
      <p:graphicFrame>
        <p:nvGraphicFramePr>
          <p:cNvPr id="4" name="object_ec75bca1-02dc-4b81-9bd4-29ca1f4742da"/>
          <p:cNvGraphicFramePr>
            <a:graphicFrameLocks noGrp="1"/>
          </p:cNvGraphicFramePr>
          <p:nvPr/>
        </p:nvGraphicFramePr>
        <p:xfrm>
          <a:off x="3950208" y="1792224"/>
          <a:ext cx="7571231" cy="4187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8375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日期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用电量（千瓦时）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降低比例（%）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性质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2026-01-01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1200 千瓦时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2026-02-01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1300 千瓦时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2026-03-01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1250 千瓦时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三个月合计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3750 千瓦时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待确认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</a:tbl>
          </a:graphicData>
        </a:graphic>
      </p:graphicFrame>
      <p:sp>
        <p:nvSpPr>
          <p:cNvPr id="5" name="object_68623741-c0a1-46c7-90c7-0fdf0f45089c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442bc82-81be-4ead-ab10-32115a934849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月度用电量（千瓦时）</a:t>
            </a:r>
          </a:p>
        </p:txBody>
      </p:sp>
      <p:sp>
        <p:nvSpPr>
          <p:cNvPr id="3" name="object_47c45d53-e83e-469f-8a19-4414a25e73b5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仅用电量（千瓦时）进入本图数值轴，降低比例（%）不混入。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三个月合计3750千瓦时为原文合计行数值，非重新计算。</a:t>
            </a:r>
          </a:p>
        </p:txBody>
      </p:sp>
      <p:graphicFrame>
        <p:nvGraphicFramePr>
          <p:cNvPr id="4" name="object_5505438f-e62b-463b-bacb-bb7191eda282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a1344e84-838e-4226-b374-8031f5f80eac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7afae6d-c757-40ee-9eaa-5c93830ff0db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月度降低比例（%）</a:t>
            </a:r>
          </a:p>
        </p:txBody>
      </p:sp>
      <p:sp>
        <p:nvSpPr>
          <p:cNvPr id="3" name="object_d85148d0-66d0-40ba-94c8-aafcbeaf4678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仅降低比例（%）进入本图数值轴，用电量（千瓦时）不混入。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三个月合计行降低比例原文为空，未提供，故本图不含该类别。</a:t>
            </a:r>
          </a:p>
        </p:txBody>
      </p:sp>
      <p:graphicFrame>
        <p:nvGraphicFramePr>
          <p:cNvPr id="4" name="object_8aae2951-1106-478e-9f3f-3689680e6642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579765d8-8e97-4098-820f-58fddb302c9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59bbd288-afdf-4a8a-b96f-b4d8740fac9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分类数据完整表（人工验证，非真实业务）</a:t>
            </a:r>
          </a:p>
        </p:txBody>
      </p:sp>
      <p:sp>
        <p:nvSpPr>
          <p:cNvPr id="3" name="object_dceb1f10-5409-47a4-83fc-28e1e33d1be0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表格完整保留分类、用电量（千瓦时）、性质三列及A楼、B楼、C楼三行。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分类数据表未提供日期或期间列，期间标注“待确认”。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用电量：千瓦时</a:t>
            </a:r>
          </a:p>
        </p:txBody>
      </p:sp>
      <p:graphicFrame>
        <p:nvGraphicFramePr>
          <p:cNvPr id="4" name="object_540f7926-8c26-43a7-b9cd-d51f56e825b3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743"/>
                <a:gridCol w="2523743"/>
                <a:gridCol w="2523745"/>
              </a:tblGrid>
              <a:tr h="10469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分类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用电量（千瓦时）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性质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A楼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 千瓦时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B楼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72 千瓦时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C楼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 千瓦时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ca3bea2b-a78b-48e4-a408-000d8bd0f7dc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853bb076-6069-4ec0-9dd5-5191b395a997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分类用电量（千瓦时）</a:t>
            </a:r>
          </a:p>
        </p:txBody>
      </p:sp>
      <p:sp>
        <p:nvSpPr>
          <p:cNvPr id="3" name="object_8d737525-0a4b-4c87-9c6c-3d22751acc63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仅分类用电量（千瓦时）进入本图数值轴。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分类数据表未提供日期或期间，本图不标注时间范围。</a:t>
            </a:r>
          </a:p>
        </p:txBody>
      </p:sp>
      <p:graphicFrame>
        <p:nvGraphicFramePr>
          <p:cNvPr id="4" name="object_a303f1d6-c6d1-47a0-96a4-c4cab8cba5bd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77bb340b-4e5e-4c5c-bd3f-934b97e5f29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人工验证用电数据演示（非真实业务）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