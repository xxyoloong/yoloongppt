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基线</c:v>
                </c:pt>
              </c:strCache>
            </c:strRef>
          </c:tx>
          <c:spPr>
            <a:solidFill>
              <a:srgbClr val="147C80"/>
            </a:solidFill>
            <a:ln>
              <a:solidFill>
                <a:srgbClr val="147C80"/>
              </a:solidFill>
            </a:ln>
          </c:spPr>
          <c:cat>
            <c:strRef>
              <c:f>Sheet1!$A$2:$A$4</c:f>
              <c:strCache>
                <c:ptCount val="3"/>
                <c:pt idx="0">
                  <c:v>A楼</c:v>
                </c:pt>
                <c:pt idx="1">
                  <c:v>B楼</c:v>
                </c:pt>
                <c:pt idx="2">
                  <c:v>C楼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80</c:v>
                </c:pt>
                <c:pt idx="2">
                  <c:v>60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本期</c:v>
                </c:pt>
              </c:strCache>
            </c:strRef>
          </c:tx>
          <c:spPr>
            <a:solidFill>
              <a:srgbClr val="D17D32"/>
            </a:solidFill>
            <a:ln>
              <a:solidFill>
                <a:srgbClr val="D17D32"/>
              </a:solidFill>
            </a:ln>
          </c:spPr>
          <c:cat>
            <c:strRef>
              <c:f>Sheet1!$A$2:$A$4</c:f>
              <c:strCache>
                <c:ptCount val="3"/>
                <c:pt idx="0">
                  <c:v>A楼</c:v>
                </c:pt>
                <c:pt idx="1">
                  <c:v>B楼</c:v>
                </c:pt>
                <c:pt idx="2">
                  <c:v>C楼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90</c:v>
                </c:pt>
                <c:pt idx="1">
                  <c:v>72</c:v>
                </c:pt>
                <c:pt idx="2">
                  <c:v>54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600">
                <a:latin typeface="Noto Sans CJK SC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pPr>
                  <a:defRPr sz="1600">
                    <a:latin typeface="Noto Sans CJK SC"/>
                  </a:defRPr>
                </a:pPr>
                <a:r>
                  <a:t>千瓦时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6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600">
              <a:latin typeface="Noto Sans CJK SC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本页为封面与免责声明页。内容来自来源原文：介绍虚构校园节能试点、全部内容注明软件验证、非真实业务、偏好6页并允许在可读容量不足时按默认软预算分页。</a:t>
            </a:r>
          </a:p>
          <a:p/>
          <a:p>
            <a:r>
              <a:t>证据：</a:t>
            </a:r>
          </a:p>
          <a:p>
            <a:r>
              <a:t>evidence_ef52af34-f0d0-48df-ab90-3b5f93eefe7f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本页说明演示结构与限制。来源原文要求介绍虚构试点、用原生表格列出数据、用原生柱状图展示同一组数据、再总结并保留来源，并明确不要推算比例、合计或新统计，不加入图片和原文没有的因果。</a:t>
            </a:r>
          </a:p>
          <a:p/>
          <a:p>
            <a:r>
              <a:t>证据：</a:t>
            </a:r>
          </a:p>
          <a:p>
            <a:r>
              <a:t>evidence_ef52af34-f0d0-48df-ab90-3b5f93eefe7f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表格数据逐字来自来源：A楼基线100千瓦时、本期90千瓦时；B楼基线80千瓦时、本期72千瓦时；C楼基线60千瓦时、本期54千瓦时。未推算比例、合计或新统计。</a:t>
            </a:r>
          </a:p>
          <a:p/>
          <a:p>
            <a:r>
              <a:t>证据：</a:t>
            </a:r>
          </a:p>
          <a:p>
            <a:r>
              <a:t>evidence_ef52af34-f0d0-48df-ab90-3b5f93eefe7f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柱状图数据与表格为同一组来源数据：A楼基线100千瓦时、本期90千瓦时；B楼基线80千瓦时、本期72千瓦时；C楼基线60千瓦时、本期54千瓦时。未推算比例、合计或新统计。</a:t>
            </a:r>
          </a:p>
          <a:p/>
          <a:p>
            <a:r>
              <a:t>证据：</a:t>
            </a:r>
          </a:p>
          <a:p>
            <a:r>
              <a:t>evidence_ef52af34-f0d0-48df-ab90-3b5f93eefe7f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结页复述来源要求：介绍虚构试点、用原生表格列出数据、用原生柱状图展示同一组数据、再总结并保留来源；全部内容注明软件验证、非真实业务；不推算比例、合计或新统计，不加入图片和原文没有的因果。</a:t>
            </a:r>
          </a:p>
          <a:p/>
          <a:p>
            <a:r>
              <a:t>证据：</a:t>
            </a:r>
          </a:p>
          <a:p>
            <a:r>
              <a:t>evidence_ef52af34-f0d0-48df-ab90-3b5f93eefe7f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本页保留来源原文，满足来源要求“再总结并保留来源”。</a:t>
            </a:r>
          </a:p>
          <a:p/>
          <a:p>
            <a:r>
              <a:t>证据：</a:t>
            </a:r>
          </a:p>
          <a:p>
            <a:r>
              <a:t>evidence_ef52af34-f0d0-48df-ab90-3b5f93eefe7f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C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afaa9ad4-b1a5-4e71-998e-5dae59888e8b"/>
          <p:cNvSpPr txBox="1"/>
          <p:nvPr/>
        </p:nvSpPr>
        <p:spPr>
          <a:xfrm>
            <a:off x="640080" y="1234440"/>
            <a:ext cx="5852160" cy="33375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4000" b="1">
                <a:solidFill>
                  <a:srgbClr val="F6F4EE"/>
                </a:solidFill>
                <a:latin typeface="Noto Sans CJK SC"/>
                <a:ea typeface="Noto Sans CJK SC"/>
              </a:defRPr>
            </a:pPr>
            <a:r>
              <a:t>虚构测试：校园节能试点</a:t>
            </a:r>
          </a:p>
        </p:txBody>
      </p:sp>
      <p:sp>
        <p:nvSpPr>
          <p:cNvPr id="3" name="object_a1513785-9914-489a-aab5-8d360f7435a6"/>
          <p:cNvSpPr txBox="1"/>
          <p:nvPr/>
        </p:nvSpPr>
        <p:spPr>
          <a:xfrm>
            <a:off x="6995160" y="1298448"/>
            <a:ext cx="4480560" cy="44805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  <a:defRPr sz="2200" b="0">
                <a:solidFill>
                  <a:srgbClr val="F6F4EE"/>
                </a:solidFill>
                <a:latin typeface="Noto Sans CJK SC"/>
                <a:ea typeface="Noto Sans CJK SC"/>
              </a:defRPr>
            </a:pPr>
            <a:r>
              <a:t>虚构校园节能试点的数据展示。</a:t>
            </a:r>
          </a:p>
          <a:p>
            <a:pPr>
              <a:lnSpc>
                <a:spcPct val="115000"/>
              </a:lnSpc>
              <a:spcAft>
                <a:spcPts val="1600"/>
              </a:spcAft>
              <a:defRPr sz="2200" b="0">
                <a:solidFill>
                  <a:srgbClr val="F6F4EE"/>
                </a:solidFill>
                <a:latin typeface="Noto Sans CJK SC"/>
                <a:ea typeface="Noto Sans CJK SC"/>
              </a:defRPr>
            </a:pPr>
            <a:r>
              <a:t>软件验证，非真实业务。</a:t>
            </a:r>
          </a:p>
        </p:txBody>
      </p:sp>
      <p:sp>
        <p:nvSpPr>
          <p:cNvPr id="4" name="object_597b8869-12f7-41db-ab6f-09d742353803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F6F4EE"/>
                </a:solidFill>
                <a:latin typeface="Noto Sans CJK SC"/>
                <a:ea typeface="Noto Sans CJK SC"/>
              </a:defRPr>
            </a:pPr>
            <a: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7fc70671-4635-4ec9-aee4-c44a00f10c2a"/>
          <p:cNvSpPr txBox="1"/>
          <p:nvPr/>
        </p:nvSpPr>
        <p:spPr>
          <a:xfrm>
            <a:off x="640080" y="548640"/>
            <a:ext cx="1092708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2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试点介绍与展示方式</a:t>
            </a:r>
          </a:p>
        </p:txBody>
      </p:sp>
      <p:sp>
        <p:nvSpPr>
          <p:cNvPr id="3" name="object_2e3d0ff5-ef85-40f0-bd5b-1b72141e1b9a"/>
          <p:cNvSpPr txBox="1"/>
          <p:nvPr/>
        </p:nvSpPr>
        <p:spPr>
          <a:xfrm>
            <a:off x="640080" y="1874519"/>
            <a:ext cx="5321808" cy="3886200"/>
          </a:xfrm>
          <a:prstGeom prst="rect">
            <a:avLst/>
          </a:prstGeom>
          <a:solidFill>
            <a:srgbClr val="FFFFFF"/>
          </a:solidFill>
          <a:ln w="8890">
            <a:solidFill>
              <a:srgbClr val="D6DFDA"/>
            </a:solidFill>
          </a:ln>
        </p:spPr>
        <p:txBody>
          <a:bodyPr wrap="square" lIns="201168" rIns="201168" tIns="201168" bIns="201168">
            <a:no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介绍虚构试点。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用原生表格列出数据。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用原生柱状图展示同一组数据。</a:t>
            </a:r>
          </a:p>
        </p:txBody>
      </p:sp>
      <p:sp>
        <p:nvSpPr>
          <p:cNvPr id="4" name="object_cb6bdcdc-0c15-46f4-9d4e-796a68c71316"/>
          <p:cNvSpPr txBox="1"/>
          <p:nvPr/>
        </p:nvSpPr>
        <p:spPr>
          <a:xfrm>
            <a:off x="6263640" y="1874519"/>
            <a:ext cx="5321808" cy="3886200"/>
          </a:xfrm>
          <a:prstGeom prst="rect">
            <a:avLst/>
          </a:prstGeom>
          <a:solidFill>
            <a:srgbClr val="FFFFFF"/>
          </a:solidFill>
          <a:ln w="8890">
            <a:solidFill>
              <a:srgbClr val="D6DFDA"/>
            </a:solidFill>
          </a:ln>
        </p:spPr>
        <p:txBody>
          <a:bodyPr wrap="square" lIns="201168" rIns="201168" tIns="201168" bIns="201168">
            <a:no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再总结并保留来源。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不要推算比例、合计或新统计，不加入图片和原文没有的因果。</a:t>
            </a:r>
          </a:p>
        </p:txBody>
      </p:sp>
      <p:sp>
        <p:nvSpPr>
          <p:cNvPr id="5" name="object_19625e66-2896-4cb0-97ca-1d9d243c65b8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69b1f80a-838c-4eb2-b0f6-80ca720291a8"/>
          <p:cNvSpPr txBox="1"/>
          <p:nvPr/>
        </p:nvSpPr>
        <p:spPr>
          <a:xfrm>
            <a:off x="640080" y="548640"/>
            <a:ext cx="1092708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2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虚构试点数据（原生表格）</a:t>
            </a:r>
          </a:p>
        </p:txBody>
      </p:sp>
      <p:sp>
        <p:nvSpPr>
          <p:cNvPr id="3" name="object_c9757ecc-eae7-4e40-a1d2-e37596f2f421"/>
          <p:cNvSpPr txBox="1"/>
          <p:nvPr/>
        </p:nvSpPr>
        <p:spPr>
          <a:xfrm>
            <a:off x="640080" y="1755648"/>
            <a:ext cx="2971800" cy="4160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  <a:defRPr sz="21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以下为虚构试点数据，全部内容为软件验证、非真实业务。</a:t>
            </a:r>
          </a:p>
          <a:p>
            <a:pPr>
              <a:lnSpc>
                <a:spcPct val="115000"/>
              </a:lnSpc>
              <a:spcAft>
                <a:spcPts val="1600"/>
              </a:spcAft>
              <a:defRPr sz="21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单位：千瓦时。</a:t>
            </a:r>
          </a:p>
        </p:txBody>
      </p:sp>
      <p:graphicFrame>
        <p:nvGraphicFramePr>
          <p:cNvPr id="4" name="object_334b189e-c91b-4452-ad32-b2d1b0d56874"/>
          <p:cNvGraphicFramePr>
            <a:graphicFrameLocks noGrp="1"/>
          </p:cNvGraphicFramePr>
          <p:nvPr/>
        </p:nvGraphicFramePr>
        <p:xfrm>
          <a:off x="3950208" y="1792224"/>
          <a:ext cx="7571231" cy="4187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3743"/>
                <a:gridCol w="2523743"/>
                <a:gridCol w="2523745"/>
              </a:tblGrid>
              <a:tr h="1046988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楼栋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基线（千瓦时）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本期（千瓦时）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</a:tr>
              <a:tr h="1046988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A楼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100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90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</a:tr>
              <a:tr h="1046988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B楼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80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72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</a:tr>
              <a:tr h="1046988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C楼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60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54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object_9375b906-4abf-4016-a808-178ac050e8e7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7083b173-17fe-4491-9e90-ac213a77888f"/>
          <p:cNvSpPr txBox="1"/>
          <p:nvPr/>
        </p:nvSpPr>
        <p:spPr>
          <a:xfrm>
            <a:off x="640080" y="548640"/>
            <a:ext cx="1092708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2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虚构试点数据（原生柱状图）</a:t>
            </a:r>
          </a:p>
        </p:txBody>
      </p:sp>
      <p:sp>
        <p:nvSpPr>
          <p:cNvPr id="3" name="object_25ad059b-25dc-40da-8ec7-eca2dc59121f"/>
          <p:cNvSpPr txBox="1"/>
          <p:nvPr/>
        </p:nvSpPr>
        <p:spPr>
          <a:xfrm>
            <a:off x="640080" y="1755648"/>
            <a:ext cx="2971800" cy="4160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  <a:defRPr sz="21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以下为虚构试点数据，全部内容为软件验证、非真实业务。</a:t>
            </a:r>
          </a:p>
          <a:p>
            <a:pPr>
              <a:lnSpc>
                <a:spcPct val="115000"/>
              </a:lnSpc>
              <a:spcAft>
                <a:spcPts val="1600"/>
              </a:spcAft>
              <a:defRPr sz="21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单位：千瓦时。</a:t>
            </a:r>
          </a:p>
        </p:txBody>
      </p:sp>
      <p:graphicFrame>
        <p:nvGraphicFramePr>
          <p:cNvPr id="4" name="object_da89b730-1292-4c75-81ad-feb9cbddd37c"/>
          <p:cNvGraphicFramePr>
            <a:graphicFrameLocks noGrp="1"/>
          </p:cNvGraphicFramePr>
          <p:nvPr/>
        </p:nvGraphicFramePr>
        <p:xfrm>
          <a:off x="3950208" y="1792224"/>
          <a:ext cx="7571231" cy="418795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object_c7afe378-4958-419d-a75d-3fc6f410f664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1c27ef01-2593-4185-932d-04e6b79ca94e"/>
          <p:cNvSpPr txBox="1"/>
          <p:nvPr/>
        </p:nvSpPr>
        <p:spPr>
          <a:xfrm>
            <a:off x="640080" y="548640"/>
            <a:ext cx="1092708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2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总结</a:t>
            </a:r>
          </a:p>
        </p:txBody>
      </p:sp>
      <p:sp>
        <p:nvSpPr>
          <p:cNvPr id="3" name="object_92be090e-f084-4cc4-b837-95d87d6330ef"/>
          <p:cNvSpPr txBox="1"/>
          <p:nvPr/>
        </p:nvSpPr>
        <p:spPr>
          <a:xfrm>
            <a:off x="640080" y="1874519"/>
            <a:ext cx="5321808" cy="1691640"/>
          </a:xfrm>
          <a:prstGeom prst="rect">
            <a:avLst/>
          </a:prstGeom>
          <a:solidFill>
            <a:srgbClr val="FFFFFF"/>
          </a:solidFill>
          <a:ln w="8890">
            <a:solidFill>
              <a:srgbClr val="D6DFDA"/>
            </a:solidFill>
          </a:ln>
        </p:spPr>
        <p:txBody>
          <a:bodyPr wrap="square" lIns="201168" rIns="201168" tIns="201168" bIns="201168">
            <a:no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本演示介绍一个虚构校园节能试点。</a:t>
            </a:r>
          </a:p>
        </p:txBody>
      </p:sp>
      <p:sp>
        <p:nvSpPr>
          <p:cNvPr id="4" name="object_cdd6f04c-c224-4620-8058-d1ce71ee6dd8"/>
          <p:cNvSpPr txBox="1"/>
          <p:nvPr/>
        </p:nvSpPr>
        <p:spPr>
          <a:xfrm>
            <a:off x="6263640" y="1874519"/>
            <a:ext cx="5321808" cy="1691640"/>
          </a:xfrm>
          <a:prstGeom prst="rect">
            <a:avLst/>
          </a:prstGeom>
          <a:solidFill>
            <a:srgbClr val="FFFFFF"/>
          </a:solidFill>
          <a:ln w="8890">
            <a:solidFill>
              <a:srgbClr val="D6DFDA"/>
            </a:solidFill>
          </a:ln>
        </p:spPr>
        <p:txBody>
          <a:bodyPr wrap="square" lIns="201168" rIns="201168" tIns="201168" bIns="201168">
            <a:no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用原生表格列出数据，用原生柱状图展示同一组数据。</a:t>
            </a:r>
          </a:p>
        </p:txBody>
      </p:sp>
      <p:sp>
        <p:nvSpPr>
          <p:cNvPr id="5" name="object_e47ea77d-3926-4c99-a25a-37ca0212048f"/>
          <p:cNvSpPr txBox="1"/>
          <p:nvPr/>
        </p:nvSpPr>
        <p:spPr>
          <a:xfrm>
            <a:off x="640080" y="3822191"/>
            <a:ext cx="5321808" cy="1691640"/>
          </a:xfrm>
          <a:prstGeom prst="rect">
            <a:avLst/>
          </a:prstGeom>
          <a:solidFill>
            <a:srgbClr val="FFFFFF"/>
          </a:solidFill>
          <a:ln w="8890">
            <a:solidFill>
              <a:srgbClr val="D6DFDA"/>
            </a:solidFill>
          </a:ln>
        </p:spPr>
        <p:txBody>
          <a:bodyPr wrap="square" lIns="201168" rIns="201168" tIns="201168" bIns="201168">
            <a:no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全部内容注明软件验证、非真实业务。</a:t>
            </a:r>
          </a:p>
        </p:txBody>
      </p:sp>
      <p:sp>
        <p:nvSpPr>
          <p:cNvPr id="6" name="object_4354314f-fa75-4005-8f1e-2eef725f6342"/>
          <p:cNvSpPr txBox="1"/>
          <p:nvPr/>
        </p:nvSpPr>
        <p:spPr>
          <a:xfrm>
            <a:off x="6263640" y="3822191"/>
            <a:ext cx="5321808" cy="1691640"/>
          </a:xfrm>
          <a:prstGeom prst="rect">
            <a:avLst/>
          </a:prstGeom>
          <a:solidFill>
            <a:srgbClr val="FFFFFF"/>
          </a:solidFill>
          <a:ln w="8890">
            <a:solidFill>
              <a:srgbClr val="D6DFDA"/>
            </a:solidFill>
          </a:ln>
        </p:spPr>
        <p:txBody>
          <a:bodyPr wrap="square" lIns="201168" rIns="201168" tIns="201168" bIns="201168">
            <a:no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不要推算比例、合计或新统计，不加入图片和原文没有的因果。</a:t>
            </a:r>
          </a:p>
        </p:txBody>
      </p:sp>
      <p:sp>
        <p:nvSpPr>
          <p:cNvPr id="7" name="object_63501708-8254-494b-a5bd-1719524d958f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4bc9a6fa-6931-4b54-ae9e-5780f2b6ab42"/>
          <p:cNvSpPr txBox="1"/>
          <p:nvPr/>
        </p:nvSpPr>
        <p:spPr>
          <a:xfrm>
            <a:off x="640080" y="548640"/>
            <a:ext cx="1092708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2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来源</a:t>
            </a:r>
          </a:p>
        </p:txBody>
      </p:sp>
      <p:sp>
        <p:nvSpPr>
          <p:cNvPr id="3" name="object_7a26a0d3-76f1-4277-88f9-05c772c47387"/>
          <p:cNvSpPr txBox="1"/>
          <p:nvPr/>
        </p:nvSpPr>
        <p:spPr>
          <a:xfrm>
            <a:off x="658368" y="1828800"/>
            <a:ext cx="10835640" cy="397763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500"/>
              </a:spcAft>
              <a:defRPr sz="24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来源：制作中文PPT介绍一个虚构校园节能试点；偏好6页；允许在可读容量不足时按默认软预算分页；全部内容注明软件验证、非真实业务；介绍虚构试点，用原生表格列出数据，用原生柱状图展示同一组数据，再总结并保留来源；A楼基线100千瓦时、本期90千瓦时；B楼基线80千瓦时、本期72千瓦时；C楼基线60千瓦时、本期54千瓦时；不要推算比例、合计或新统计，不加入图片和原文没有的因果。</a:t>
            </a:r>
          </a:p>
        </p:txBody>
      </p:sp>
      <p:sp>
        <p:nvSpPr>
          <p:cNvPr id="4" name="object_864840bb-ba77-4767-9851-f6e343a0a4e6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06 / 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虚构校园节能试点介绍（软件验证、非真实业务）</dc:title>
  <dc:subject/>
  <dc:creator>YoloongPPT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