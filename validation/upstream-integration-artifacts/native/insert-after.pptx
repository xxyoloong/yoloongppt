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现有文字保持</a:t>
            </a:r>
          </a:p>
        </p:txBody>
      </p:sp>
      <p:grpSp>
        <p:nvGrpSpPr>
          <p:cNvPr id="3" name="object-vector-01"/>
          <p:cNvGrpSpPr/>
          <p:nvPr/>
        </p:nvGrpSpPr>
        <p:grpSpPr>
          <a:xfrm>
            <a:off x="914400" y="1828800"/>
            <a:ext cx="4572000" cy="2571750"/>
            <a:chOff x="0" y="0"/>
            <a:chExt cx="9144000" cy="5143500"/>
          </a:xfrm>
        </p:grpSpPr>
        <p:sp>
          <p:nvSpPr>
            <p:cNvPr id="4" name="Rectangle 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" name="vector-unit"/>
            <p:cNvGrpSpPr/>
            <p:nvPr/>
          </p:nvGrpSpPr>
          <p:grpSpPr>
            <a:xfrm>
              <a:off x="457200" y="952500"/>
              <a:ext cx="3810000" cy="2190750"/>
              <a:chOff x="457200" y="952500"/>
              <a:chExt cx="3810000" cy="2190750"/>
            </a:xfrm>
          </p:grpSpPr>
          <p:sp>
            <p:nvSpPr>
              <p:cNvPr id="6" name="panel"/>
              <p:cNvSpPr/>
              <p:nvPr/>
            </p:nvSpPr>
            <p:spPr>
              <a:xfrm>
                <a:off x="457200" y="952500"/>
                <a:ext cx="3810000" cy="2190750"/>
              </a:xfrm>
              <a:prstGeom prst="roundRect">
                <a:avLst>
                  <a:gd name="adj" fmla="val 5217"/>
                </a:avLst>
              </a:prstGeom>
              <a:gradFill>
                <a:gsLst>
                  <a:gs pos="0">
                    <a:srgbClr val="2563EB"/>
                  </a:gs>
                  <a:gs pos="100000">
                    <a:srgbClr val="60A5F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7" name="trend"/>
              <p:cNvSpPr/>
              <p:nvPr/>
            </p:nvSpPr>
            <p:spPr>
              <a:xfrm>
                <a:off x="857250" y="1333500"/>
                <a:ext cx="295275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1333500">
                    <a:moveTo>
                      <a:pt x="0" y="1333500"/>
                    </a:moveTo>
                    <a:lnTo>
                      <a:pt x="1047750" y="381000"/>
                    </a:lnTo>
                    <a:lnTo>
                      <a:pt x="2095500" y="952500"/>
                    </a:lnTo>
                    <a:lnTo>
                      <a:pt x="2952750" y="0"/>
                    </a:lnTo>
                  </a:path>
                </a:pathLst>
              </a:custGeom>
              <a:noFill/>
              <a:ln w="19050">
                <a:solidFill>
                  <a:srgbClr val="0F172A"/>
                </a:solidFill>
              </a:ln>
            </p:spPr>
          </p:sp>
          <p:sp>
            <p:nvSpPr>
              <p:cNvPr id="8" name="point"/>
              <p:cNvSpPr/>
              <p:nvPr/>
            </p:nvSpPr>
            <p:spPr>
              <a:xfrm>
                <a:off x="1828800" y="16383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9" name="heading"/>
            <p:cNvSpPr txBox="1"/>
            <p:nvPr/>
          </p:nvSpPr>
          <p:spPr>
            <a:xfrm>
              <a:off x="445008" y="3270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原生矢量来源</a:t>
              </a:r>
            </a:p>
          </p:txBody>
        </p:sp>
        <p:sp>
          <p:nvSpPr>
            <p:cNvPr id="10" name="TextBox 8"/>
            <p:cNvSpPr txBox="1"/>
            <p:nvPr/>
          </p:nvSpPr>
          <p:spPr>
            <a:xfrm>
              <a:off x="448056" y="3594100"/>
              <a:ext cx="2168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F172A"/>
                  </a:solidFill>
                  <a:latin typeface="Microsoft YaHei"/>
                  <a:ea typeface="Microsoft YaHei"/>
                  <a:cs typeface="Microsoft YaHei"/>
                </a:rPr>
                <a:t>来源数值：100 kWh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非目标页保持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