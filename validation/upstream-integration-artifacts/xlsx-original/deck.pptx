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用电量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Sheet1!$A$2:$A$4</c:f>
              <c:strCache>
                <c:ptCount val="3"/>
                <c:pt idx="0">
                  <c:v>2026-01-01</c:v>
                </c:pt>
                <c:pt idx="1">
                  <c:v>2026-02-01</c:v>
                </c:pt>
                <c:pt idx="2">
                  <c:v>2026-03-01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</c:v>
                </c:pt>
                <c:pt idx="1">
                  <c:v>1300</c:v>
                </c:pt>
                <c:pt idx="2">
                  <c:v>1250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千瓦时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降低比例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Sheet1!$A$2:$A$4</c:f>
              <c:strCache>
                <c:ptCount val="3"/>
                <c:pt idx="0">
                  <c:v>2026-01-01</c:v>
                </c:pt>
                <c:pt idx="1">
                  <c:v>2026-02-01</c:v>
                </c:pt>
                <c:pt idx="2">
                  <c:v>2026-03-01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9</c:v>
                </c:pt>
                <c:pt idx="2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数据性质逐行标注为“人工验证数据，非真实业务”。三个月合计单元格 B5 的公式为 SUM(B2:B4)，其缓存值本批未提供，故以“待确认”占位，未重新计算。</a:t>
            </a:r>
          </a:p>
          <a:p/>
          <a:p>
            <a:r>
              <a:t>证据：</a:t>
            </a:r>
          </a:p>
          <a:p>
            <a:r>
              <a:t>evidence_0c422223-82da-464e-a677-e869d99f9f50</a:t>
            </a:r>
          </a:p>
          <a:p>
            <a:r>
              <a:t>evidence_cc6a5eae-dcf5-43b2-8bf1-bb477a43cf4e</a:t>
            </a:r>
          </a:p>
          <a:p>
            <a:r>
              <a:t>evidence_9147ee3b-0716-4448-b2ca-57c8441e420b</a:t>
            </a:r>
          </a:p>
          <a:p>
            <a:r>
              <a:t>evidence_71581d0b-c912-4f20-8c9f-ff4c52aff3cb</a:t>
            </a:r>
          </a:p>
          <a:p>
            <a:r>
              <a:t>evidence_79df359e-0579-44ce-ac63-d1ecfcf33422</a:t>
            </a:r>
          </a:p>
          <a:p>
            <a:r>
              <a:t>evidence_b8636bd1-e5db-44ad-8bd4-d0a4cb343209</a:t>
            </a:r>
          </a:p>
          <a:p>
            <a:r>
              <a:t>evidence_3578293b-309a-45b9-a2ea-9374f56db531</a:t>
            </a:r>
          </a:p>
          <a:p>
            <a:r>
              <a:t>evidence_46073be8-c7c5-40cb-aa36-74c1aeedebcc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表格逐字保留来源表头与三行数据及合计行。用电量单位为千瓦时，降低比例单位为 %。三个月合计行用电量 3750 千瓦时对应公式 SUM(B2:B4)，其缓存值本批未提供，未重新计算。</a:t>
            </a:r>
          </a:p>
          <a:p/>
          <a:p>
            <a:r>
              <a:t>证据：</a:t>
            </a:r>
          </a:p>
          <a:p>
            <a:r>
              <a:t>evidence_c23e3e67-37de-4cab-ba8a-4b75f04be93b</a:t>
            </a:r>
          </a:p>
          <a:p>
            <a:r>
              <a:t>evidence_775a7679-6d88-443e-b11f-cc217d0b0029</a:t>
            </a:r>
          </a:p>
          <a:p>
            <a:r>
              <a:t>evidence_875a7e0f-fca9-4015-bb0d-9b9b053d431c</a:t>
            </a:r>
          </a:p>
          <a:p>
            <a:r>
              <a:t>evidence_74360f33-4bde-4909-a9dd-bccb77514973</a:t>
            </a:r>
          </a:p>
          <a:p>
            <a:r>
              <a:t>evidence_880f5da3-79eb-4af3-8176-dd0ae5a2e044</a:t>
            </a:r>
          </a:p>
          <a:p>
            <a:r>
              <a:t>evidence_bee1c6ec-9cc9-4382-a518-873e0a40a6f5</a:t>
            </a:r>
          </a:p>
          <a:p>
            <a:r>
              <a:t>evidence_859cb136-cc38-4d66-8689-a4bbacbd2437</a:t>
            </a:r>
          </a:p>
          <a:p>
            <a:r>
              <a:t>evidence_0c422223-82da-464e-a677-e869d99f9f50</a:t>
            </a:r>
          </a:p>
          <a:p>
            <a:r>
              <a:t>evidence_11351651-9092-4e53-8317-80753e6be121</a:t>
            </a:r>
          </a:p>
          <a:p>
            <a:r>
              <a:t>evidence_cbf929a3-5497-409f-ad13-5634fd3590fb</a:t>
            </a:r>
          </a:p>
          <a:p>
            <a:r>
              <a:t>evidence_cba25ddf-0e67-4dd1-956e-6a6ac6befa9d</a:t>
            </a:r>
          </a:p>
          <a:p>
            <a:r>
              <a:t>evidence_cc6a5eae-dcf5-43b2-8bf1-bb477a43cf4e</a:t>
            </a:r>
          </a:p>
          <a:p>
            <a:r>
              <a:t>evidence_0b6620f9-7eee-41bf-b4db-66cb75530dd6</a:t>
            </a:r>
          </a:p>
          <a:p>
            <a:r>
              <a:t>evidence_24c1535d-e21a-4e1c-8433-705afe648483</a:t>
            </a:r>
          </a:p>
          <a:p>
            <a:r>
              <a:t>evidence_79139778-c543-45cc-a4e3-8ef99986e227</a:t>
            </a:r>
          </a:p>
          <a:p>
            <a:r>
              <a:t>evidence_9147ee3b-0716-4448-b2ca-57c8441e420b</a:t>
            </a:r>
          </a:p>
          <a:p>
            <a:r>
              <a:t>evidence_21f7ae90-06ee-42e2-b263-c5b2dfed584e</a:t>
            </a:r>
          </a:p>
          <a:p>
            <a:r>
              <a:t>evidence_53c39163-c1a6-48dc-8edf-d08f2e12d175</a:t>
            </a:r>
          </a:p>
          <a:p>
            <a:r>
              <a:t>evidence_71581d0b-c912-4f20-8c9f-ff4c52aff3cb</a:t>
            </a:r>
          </a:p>
          <a:p>
            <a:r>
              <a:t>evidence_46073be8-c7c5-40cb-aa36-74c1aeedebcc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图表仅含用电量一个系列，单位为千瓦时。降低比例单位为 %，未与千瓦时混入同一数值轴。三个月合计 3750 千瓦时未作为月份类别放入图表，避免与月度值混淆。</a:t>
            </a:r>
          </a:p>
          <a:p/>
          <a:p>
            <a:r>
              <a:t>证据：</a:t>
            </a:r>
          </a:p>
          <a:p>
            <a:r>
              <a:t>evidence_bee1c6ec-9cc9-4382-a518-873e0a40a6f5</a:t>
            </a:r>
          </a:p>
          <a:p>
            <a:r>
              <a:t>evidence_cbf929a3-5497-409f-ad13-5634fd3590fb</a:t>
            </a:r>
          </a:p>
          <a:p>
            <a:r>
              <a:t>evidence_24c1535d-e21a-4e1c-8433-705afe648483</a:t>
            </a:r>
          </a:p>
          <a:p>
            <a:r>
              <a:t>evidence_880f5da3-79eb-4af3-8176-dd0ae5a2e044</a:t>
            </a:r>
          </a:p>
          <a:p>
            <a:r>
              <a:t>evidence_11351651-9092-4e53-8317-80753e6be121</a:t>
            </a:r>
          </a:p>
          <a:p>
            <a:r>
              <a:t>evidence_0b6620f9-7eee-41bf-b4db-66cb75530dd6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图表仅含降低比例一个系列，单位为 %。未与用电量千瓦时混入同一数值轴。</a:t>
            </a:r>
          </a:p>
          <a:p/>
          <a:p>
            <a:r>
              <a:t>证据：</a:t>
            </a:r>
          </a:p>
          <a:p>
            <a:r>
              <a:t>evidence_859cb136-cc38-4d66-8689-a4bbacbd2437</a:t>
            </a:r>
          </a:p>
          <a:p>
            <a:r>
              <a:t>evidence_cba25ddf-0e67-4dd1-956e-6a6ac6befa9d</a:t>
            </a:r>
          </a:p>
          <a:p>
            <a:r>
              <a:t>evidence_79139778-c543-45cc-a4e3-8ef99986e227</a:t>
            </a:r>
          </a:p>
          <a:p>
            <a:r>
              <a:t>evidence_880f5da3-79eb-4af3-8176-dd0ae5a2e044</a:t>
            </a:r>
          </a:p>
          <a:p>
            <a:r>
              <a:t>evidence_11351651-9092-4e53-8317-80753e6be121</a:t>
            </a:r>
          </a:p>
          <a:p>
            <a:r>
              <a:t>evidence_0b6620f9-7eee-41bf-b4db-66cb75530dd6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三个月合计 3750 千瓦时来自来源表 B5 单元格，其公式为 SUM(B2:B4)。本批未提供公式缓存值，故标注“待确认”，未重新计算，也未推断新鲜度。</a:t>
            </a:r>
          </a:p>
          <a:p/>
          <a:p>
            <a:r>
              <a:t>证据：</a:t>
            </a:r>
          </a:p>
          <a:p>
            <a:r>
              <a:t>evidence_21f7ae90-06ee-42e2-b263-c5b2dfed584e</a:t>
            </a:r>
          </a:p>
          <a:p>
            <a:r>
              <a:t>evidence_53c39163-c1a6-48dc-8edf-d08f2e12d175</a:t>
            </a:r>
          </a:p>
          <a:p>
            <a:r>
              <a:t>evidence_71581d0b-c912-4f20-8c9f-ff4c52aff3cb</a:t>
            </a:r>
          </a:p>
          <a:p>
            <a:r>
              <a:t>evidence_46073be8-c7c5-40cb-aa36-74c1aeedebcc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表格逐字保留来源表头与三行分类数据。用电量单位为千瓦时。</a:t>
            </a:r>
          </a:p>
          <a:p/>
          <a:p>
            <a:r>
              <a:t>证据：</a:t>
            </a:r>
          </a:p>
          <a:p>
            <a:r>
              <a:t>evidence_ae380a5d-8cb1-43cb-8324-356df7b82a7d</a:t>
            </a:r>
          </a:p>
          <a:p>
            <a:r>
              <a:t>evidence_140f7584-586f-4c6f-a4bc-d61bc5debdb0</a:t>
            </a:r>
          </a:p>
          <a:p>
            <a:r>
              <a:t>evidence_9138d3f6-53d1-44d2-8b71-8a28f82c389a</a:t>
            </a:r>
          </a:p>
          <a:p>
            <a:r>
              <a:t>evidence_6e22c3f0-3ef7-43c7-a8c6-a42c5cadbce7</a:t>
            </a:r>
          </a:p>
          <a:p>
            <a:r>
              <a:t>evidence_10721f31-bc4c-4e4f-ae6b-e1b8deea2c09</a:t>
            </a:r>
          </a:p>
          <a:p>
            <a:r>
              <a:t>evidence_79df359e-0579-44ce-ac63-d1ecfcf33422</a:t>
            </a:r>
          </a:p>
          <a:p>
            <a:r>
              <a:t>evidence_83f4a954-3f1e-4e66-bf12-2e9b9898772b</a:t>
            </a:r>
          </a:p>
          <a:p>
            <a:r>
              <a:t>evidence_acd650e8-9cc8-4991-a3c5-dfa5dc1df9fc</a:t>
            </a:r>
          </a:p>
          <a:p>
            <a:r>
              <a:t>evidence_b8636bd1-e5db-44ad-8bd4-d0a4cb343209</a:t>
            </a:r>
          </a:p>
          <a:p>
            <a:r>
              <a:t>evidence_0903cb0e-1920-4509-ab1b-f4ae69062c14</a:t>
            </a:r>
          </a:p>
          <a:p>
            <a:r>
              <a:t>evidence_7873e161-130a-4f7b-9ea5-ee3cc23840d5</a:t>
            </a:r>
          </a:p>
          <a:p>
            <a:r>
              <a:t>evidence_3578293b-309a-45b9-a2ea-9374f56db531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d62c5e9-95c0-40ce-96ff-d3057d84298f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演示说明：人工验证数据，非真实业务</a:t>
            </a:r>
          </a:p>
        </p:txBody>
      </p:sp>
      <p:sp>
        <p:nvSpPr>
          <p:cNvPr id="3" name="object_2942d327-ed27-4f29-a0e9-9912beea616e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本演示数据来源为人工验证数据，非真实业务。</a:t>
            </a:r>
          </a:p>
        </p:txBody>
      </p:sp>
      <p:sp>
        <p:nvSpPr>
          <p:cNvPr id="4" name="object_cc03a174-27be-485c-816c-7f07ec2de5e3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展示内容：月度数据表（日期、用电量、降低比例、性质）与分类数据表（分类、用电量、性质）。</a:t>
            </a:r>
          </a:p>
        </p:txBody>
      </p:sp>
      <p:sp>
        <p:nvSpPr>
          <p:cNvPr id="5" name="object_74478001-1e86-4155-8591-7b556e4340fd"/>
          <p:cNvSpPr txBox="1"/>
          <p:nvPr/>
        </p:nvSpPr>
        <p:spPr>
          <a:xfrm>
            <a:off x="64008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三个月合计用电量为 3750 千瓦时，其单元格公式为 SUM(B2:B4)。</a:t>
            </a:r>
          </a:p>
        </p:txBody>
      </p:sp>
      <p:sp>
        <p:nvSpPr>
          <p:cNvPr id="6" name="object_21cf0401-63be-48e4-a1c5-73873c52cc2c"/>
          <p:cNvSpPr txBox="1"/>
          <p:nvPr/>
        </p:nvSpPr>
        <p:spPr>
          <a:xfrm>
            <a:off x="626364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公式缓存值：待确认（本批未提供 B5 公式缓存值，无法确认缓存内容或新鲜度）。</a:t>
            </a:r>
          </a:p>
        </p:txBody>
      </p:sp>
      <p:sp>
        <p:nvSpPr>
          <p:cNvPr id="7" name="object_73804bbf-f8e7-44f8-873b-f96499f8b82f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b6c87569-e0df-4272-b7e7-4a466ef592a4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月度数据表：日期、用电量、降低比例、性质</a:t>
            </a:r>
          </a:p>
        </p:txBody>
      </p:sp>
      <p:sp>
        <p:nvSpPr>
          <p:cNvPr id="3" name="object_bc379cc3-bc48-4239-9826-9dc2d93220a0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表内数据均为人工验证数据，非真实业务。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用电量：千瓦时；降低比例：%</a:t>
            </a:r>
          </a:p>
        </p:txBody>
      </p:sp>
      <p:graphicFrame>
        <p:nvGraphicFramePr>
          <p:cNvPr id="4" name="object_e72e63e3-3de7-494b-ae95-f0a04133473b"/>
          <p:cNvGraphicFramePr>
            <a:graphicFrameLocks noGrp="1"/>
          </p:cNvGraphicFramePr>
          <p:nvPr/>
        </p:nvGraphicFramePr>
        <p:xfrm>
          <a:off x="3950208" y="1792224"/>
          <a:ext cx="7571231" cy="4187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7"/>
                <a:gridCol w="1892807"/>
                <a:gridCol w="1892807"/>
                <a:gridCol w="1892810"/>
              </a:tblGrid>
              <a:tr h="8375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日期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用电量（千瓦时）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降低比例（%）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性质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8375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2026-01-01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1200 千瓦时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人工验证数据，非真实业务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8375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2026-02-01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1300 千瓦时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9%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人工验证数据，非真实业务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8375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2026-03-01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1250 千瓦时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人工验证数据，非真实业务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8375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三个月合计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3750 千瓦时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人工验证数据，非真实业务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</a:tbl>
          </a:graphicData>
        </a:graphic>
      </p:graphicFrame>
      <p:sp>
        <p:nvSpPr>
          <p:cNvPr id="5" name="object_e88d18fe-bbb6-4883-bcfa-cd3569b0ab89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7509e461-9fbe-425f-b875-94895510f764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月度用电量（千瓦时）</a:t>
            </a:r>
          </a:p>
        </p:txBody>
      </p:sp>
      <p:sp>
        <p:nvSpPr>
          <p:cNvPr id="3" name="object_15d51fb4-6bfa-40c4-825d-c81cf888dc07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仅展示用电量（千瓦时），降低比例（%）单位不同，不混入同一数值轴。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数据均为人工验证数据，非真实业务。</a:t>
            </a:r>
          </a:p>
        </p:txBody>
      </p:sp>
      <p:graphicFrame>
        <p:nvGraphicFramePr>
          <p:cNvPr id="4" name="object_e958266d-cf06-47d4-a631-c57e00416f9e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c1396244-5d13-4013-959a-f75dd2cf20b7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2a6ca036-9328-4e3a-84e4-2c6fd6d1913f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月度降低比例（%）</a:t>
            </a:r>
          </a:p>
        </p:txBody>
      </p:sp>
      <p:sp>
        <p:nvSpPr>
          <p:cNvPr id="3" name="object_bcacf9f6-769e-4ddf-b5f7-629a98bc5829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仅展示降低比例（%），与用电量（千瓦时）分轴呈现。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数据均为人工验证数据，非真实业务。</a:t>
            </a:r>
          </a:p>
        </p:txBody>
      </p:sp>
      <p:graphicFrame>
        <p:nvGraphicFramePr>
          <p:cNvPr id="4" name="object_e811e05c-c42c-4ae1-a029-88a36e08e297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5479db63-a794-4845-b628-13d6deef787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e92600f-b028-447a-b0fa-44d819d6c244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三个月合计：3750 千瓦时</a:t>
            </a:r>
          </a:p>
        </p:txBody>
      </p:sp>
      <p:sp>
        <p:nvSpPr>
          <p:cNvPr id="3" name="object_172cf7e4-6938-4086-8b9b-aaa46c8ef7a1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三个月合计用电量：3750 千瓦时。</a:t>
            </a:r>
          </a:p>
        </p:txBody>
      </p:sp>
      <p:sp>
        <p:nvSpPr>
          <p:cNvPr id="4" name="object_cc3d522b-3491-48c9-a6a6-1dfe7ececc54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该单元格公式为 SUM(B2:B4)。</a:t>
            </a:r>
          </a:p>
        </p:txBody>
      </p:sp>
      <p:sp>
        <p:nvSpPr>
          <p:cNvPr id="5" name="object_517e5c43-87b4-412f-b2ce-3427fc44c528"/>
          <p:cNvSpPr txBox="1"/>
          <p:nvPr/>
        </p:nvSpPr>
        <p:spPr>
          <a:xfrm>
            <a:off x="64008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公式缓存值：待确认（本批未提供 B5 公式缓存值，无法确认缓存内容或新鲜度）。</a:t>
            </a:r>
          </a:p>
        </p:txBody>
      </p:sp>
      <p:sp>
        <p:nvSpPr>
          <p:cNvPr id="6" name="object_e192ae09-9fdc-47bb-b127-89317f6ed392"/>
          <p:cNvSpPr txBox="1"/>
          <p:nvPr/>
        </p:nvSpPr>
        <p:spPr>
          <a:xfrm>
            <a:off x="626364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性质：人工验证数据，非真实业务。</a:t>
            </a:r>
          </a:p>
        </p:txBody>
      </p:sp>
      <p:sp>
        <p:nvSpPr>
          <p:cNvPr id="7" name="object_e9d7c2d5-fc67-4c28-8086-b6ddab92b0ce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790d0c72-65d5-4400-8489-6ceb98bc4bdf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分类数据表：A楼、B楼、C楼用电量</a:t>
            </a:r>
          </a:p>
        </p:txBody>
      </p:sp>
      <p:sp>
        <p:nvSpPr>
          <p:cNvPr id="3" name="object_a5e91502-5020-4725-ac5e-bc7362b3ca80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表内数据均为人工验证数据，非真实业务。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用电量：千瓦时</a:t>
            </a:r>
          </a:p>
        </p:txBody>
      </p:sp>
      <p:graphicFrame>
        <p:nvGraphicFramePr>
          <p:cNvPr id="4" name="object_4be6a25a-f114-401a-92ec-db762a0feb16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743"/>
                <a:gridCol w="2523743"/>
                <a:gridCol w="2523745"/>
              </a:tblGrid>
              <a:tr h="10469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分类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用电量（千瓦时）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性质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A楼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90 千瓦时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人工验证数据，非真实业务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B楼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72 千瓦时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人工验证数据，非真实业务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C楼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54 千瓦时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人工验证数据，非真实业务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82dbf6a5-e514-4382-b66a-f4efb1c15ca6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人工验证用电数据演示（非真实业务）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