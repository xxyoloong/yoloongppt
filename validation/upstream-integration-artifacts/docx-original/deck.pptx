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标题与资料性质均逐字取自原文；资料性质说明所有数据为人工构造、非真实业务，后续页面数据均在此前提下呈现。</a:t>
            </a:r>
          </a:p>
          <a:p/>
          <a:p>
            <a:r>
              <a:t>证据：</a:t>
            </a:r>
          </a:p>
          <a:p>
            <a:r>
              <a:t>evidence_29e8650e-a427-43e9-ab01-8611f3d34b1b</a:t>
            </a:r>
          </a:p>
          <a:p>
            <a:r>
              <a:t>evidence_f0d4a3c7-b514-4f21-8c05-4a57333dabef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范围句与来源限制句均逐字取自原文；原文明确不得推算节能比例、总量或因果，故本演示不给出相关推算值。</a:t>
            </a:r>
          </a:p>
          <a:p/>
          <a:p>
            <a:r>
              <a:t>证据：</a:t>
            </a:r>
          </a:p>
          <a:p>
            <a:r>
              <a:t>evidence_fd4a56d3-610e-4a33-98e4-02f5066dc70a</a:t>
            </a:r>
          </a:p>
          <a:p>
            <a:r>
              <a:t>evidence_5c3f2bf9-5043-40bb-b99e-353f761e50c0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两条数据均逐字取自原文段落；仅陈述基线与本期数值，不计算差值或比例。</a:t>
            </a:r>
          </a:p>
          <a:p/>
          <a:p>
            <a:r>
              <a:t>证据：</a:t>
            </a:r>
          </a:p>
          <a:p>
            <a:r>
              <a:t>evidence_6c8169f9-9fd6-4ccb-9a5c-e188c1cdedb8</a:t>
            </a:r>
          </a:p>
          <a:p>
            <a:r>
              <a:t>evidence_867f2adf-6116-4818-9bca-19f82ea6373c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数据逐字取自原文段落；仅陈述基线与本期数值，不计算差值或比例。</a:t>
            </a:r>
          </a:p>
          <a:p/>
          <a:p>
            <a:r>
              <a:t>证据：</a:t>
            </a:r>
          </a:p>
          <a:p>
            <a:r>
              <a:t>evidence_e9549d5a-358d-467c-b0ce-0af3b4210ab4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表格列名与数值均取自原文表格单元格；原文未给出节能比例、总量或因果，故不列入表格。</a:t>
            </a:r>
          </a:p>
          <a:p/>
          <a:p>
            <a:r>
              <a:t>证据：</a:t>
            </a:r>
          </a:p>
          <a:p>
            <a:r>
              <a:t>evidence_cf18b06f-ced9-4281-88f0-9ee0c1c85d65</a:t>
            </a:r>
          </a:p>
          <a:p>
            <a:r>
              <a:t>evidence_561092b4-9984-456a-a10f-eec417c51944</a:t>
            </a:r>
          </a:p>
          <a:p>
            <a:r>
              <a:t>evidence_51b81bd5-0f50-4afb-aa11-c7900368aeb7</a:t>
            </a:r>
          </a:p>
          <a:p>
            <a:r>
              <a:t>evidence_91e89415-01c6-4876-bab6-8001be39668e</a:t>
            </a:r>
          </a:p>
          <a:p>
            <a:r>
              <a:t>evidence_1fd27a67-4971-4ec5-bd4c-4652e2d4b043</a:t>
            </a:r>
          </a:p>
          <a:p>
            <a:r>
              <a:t>evidence_f05c8e1b-e358-41b5-bd28-a8d95cb647bb</a:t>
            </a:r>
          </a:p>
          <a:p>
            <a:r>
              <a:t>evidence_c110d78c-1564-4c32-b6d8-251c59cb0e19</a:t>
            </a:r>
          </a:p>
          <a:p>
            <a:r>
              <a:t>evidence_c89f9b09-aa24-4ca6-aa94-0d931c681493</a:t>
            </a:r>
          </a:p>
          <a:p>
            <a:r>
              <a:t>evidence_9aa54097-b5af-42ae-ab88-7a1491c621fd</a:t>
            </a:r>
          </a:p>
          <a:p>
            <a:r>
              <a:t>evidence_e7ef3693-42ba-4fac-a0ee-e311fc1ca02d</a:t>
            </a:r>
          </a:p>
          <a:p>
            <a:r>
              <a:t>evidence_35a976b3-fa9a-40cc-940a-1d495c15b48b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资料性质与来源限制句逐字取自原文；节能比例、总量、因果在原文中未给出且明确不得推算，故以“待确认”占位，不补值。</a:t>
            </a:r>
          </a:p>
          <a:p/>
          <a:p>
            <a:r>
              <a:t>证据：</a:t>
            </a:r>
          </a:p>
          <a:p>
            <a:r>
              <a:t>evidence_f0d4a3c7-b514-4f21-8c05-4a57333dabef</a:t>
            </a:r>
          </a:p>
          <a:p>
            <a:r>
              <a:t>evidence_5c3f2bf9-5043-40bb-b99e-353f761e50c0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C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05c6de88-cc12-4ac4-b757-c61666460d74"/>
          <p:cNvSpPr txBox="1"/>
          <p:nvPr/>
        </p:nvSpPr>
        <p:spPr>
          <a:xfrm>
            <a:off x="640080" y="1234440"/>
            <a:ext cx="5852160" cy="3337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4000" b="1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2026年校园节能人工验证资料</a:t>
            </a:r>
          </a:p>
        </p:txBody>
      </p:sp>
      <p:sp>
        <p:nvSpPr>
          <p:cNvPr id="3" name="object_d7304fbc-c968-4dd7-aa52-d44e9552c922"/>
          <p:cNvSpPr txBox="1"/>
          <p:nvPr/>
        </p:nvSpPr>
        <p:spPr>
          <a:xfrm>
            <a:off x="6995160" y="1298448"/>
            <a:ext cx="4480560" cy="4480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2026年校园节能人工验证资料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2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软件验收资料，所有数据为人工构造，非真实业务。</a:t>
            </a:r>
          </a:p>
        </p:txBody>
      </p:sp>
      <p:sp>
        <p:nvSpPr>
          <p:cNvPr id="4" name="object_a3787901-fb6f-4d1f-a410-e45302ff924b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bac9adc9-cdb7-481d-9740-5af222ec6aad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2026年校园节能试点的人工验证数据</a:t>
            </a:r>
          </a:p>
        </p:txBody>
      </p:sp>
      <p:sp>
        <p:nvSpPr>
          <p:cNvPr id="3" name="object_e51b70a4-ac45-45b4-ae38-124d6226ab4e"/>
          <p:cNvSpPr txBox="1"/>
          <p:nvPr/>
        </p:nvSpPr>
        <p:spPr>
          <a:xfrm>
            <a:off x="64008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2026年校园节能试点的人工验证数据如下。</a:t>
            </a:r>
          </a:p>
        </p:txBody>
      </p:sp>
      <p:sp>
        <p:nvSpPr>
          <p:cNvPr id="4" name="object_07a42b2f-b764-475d-bc7a-3d58a263b42c"/>
          <p:cNvSpPr txBox="1"/>
          <p:nvPr/>
        </p:nvSpPr>
        <p:spPr>
          <a:xfrm>
            <a:off x="6263640" y="1874519"/>
            <a:ext cx="5321808" cy="169164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来源：本文件人工软件验收资料。不得推算节能比例、总量或因果。</a:t>
            </a:r>
          </a:p>
        </p:txBody>
      </p:sp>
      <p:sp>
        <p:nvSpPr>
          <p:cNvPr id="5" name="object_f6504f24-6495-43b7-b137-09626c0369b8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286e6a23-1b17-4c7c-a14c-7cbe2ff9b8b5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A楼与B楼：基线与本期数据</a:t>
            </a:r>
          </a:p>
        </p:txBody>
      </p:sp>
      <p:sp>
        <p:nvSpPr>
          <p:cNvPr id="3" name="object_8d4bee07-b850-434d-8410-6a249436f669"/>
          <p:cNvSpPr txBox="1"/>
          <p:nvPr/>
        </p:nvSpPr>
        <p:spPr>
          <a:xfrm>
            <a:off x="640080" y="1874519"/>
            <a:ext cx="5321808" cy="3886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A楼基线100千瓦时，本期90千瓦时。</a:t>
            </a:r>
          </a:p>
        </p:txBody>
      </p:sp>
      <p:sp>
        <p:nvSpPr>
          <p:cNvPr id="4" name="object_15c42e6c-d2dd-48c6-9368-8e4dbc58a906"/>
          <p:cNvSpPr txBox="1"/>
          <p:nvPr/>
        </p:nvSpPr>
        <p:spPr>
          <a:xfrm>
            <a:off x="6263640" y="1874519"/>
            <a:ext cx="5321808" cy="3886200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B楼基线80千瓦时，本期72千瓦时。</a:t>
            </a:r>
          </a:p>
        </p:txBody>
      </p:sp>
      <p:sp>
        <p:nvSpPr>
          <p:cNvPr id="5" name="object_2dbc0a05-1009-4077-b389-00a095355c70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3b7d20a4-930b-4792-84da-253da0c81850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C楼：基线与本期数据</a:t>
            </a:r>
          </a:p>
        </p:txBody>
      </p:sp>
      <p:sp>
        <p:nvSpPr>
          <p:cNvPr id="3" name="object_8d7217c9-e4f0-4f1d-adea-a880a6c5221e"/>
          <p:cNvSpPr txBox="1"/>
          <p:nvPr/>
        </p:nvSpPr>
        <p:spPr>
          <a:xfrm>
            <a:off x="658368" y="1828800"/>
            <a:ext cx="10835640" cy="39776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500"/>
              </a:spcAft>
              <a:defRPr sz="24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C楼基线60千瓦时，本期54千瓦时。</a:t>
            </a:r>
          </a:p>
        </p:txBody>
      </p:sp>
      <p:sp>
        <p:nvSpPr>
          <p:cNvPr id="4" name="object_b2709554-e7c8-4e8f-9651-86e576ce8a51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cf7a4ea8-92f2-4a74-b722-ac379b6d1cc3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三楼基线与本期数据表</a:t>
            </a:r>
          </a:p>
        </p:txBody>
      </p:sp>
      <p:sp>
        <p:nvSpPr>
          <p:cNvPr id="3" name="object_226fd04c-e37d-481f-adfb-009568dabaf6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表格按原文表头与数值整理，单位为千瓦时。</a:t>
            </a:r>
          </a:p>
        </p:txBody>
      </p:sp>
      <p:graphicFrame>
        <p:nvGraphicFramePr>
          <p:cNvPr id="4" name="object_412cf0bd-cf32-4f8d-9b27-e896e37fe609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3743"/>
                <a:gridCol w="2523743"/>
                <a:gridCol w="2523745"/>
              </a:tblGrid>
              <a:tr h="1046988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楼宇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基线（千瓦时）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本期（千瓦时）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</a:tr>
              <a:tr h="10469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A楼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100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90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10469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B楼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80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72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10469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C楼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60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54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bject_d75c5038-f5de-41b4-9dad-93794b4ef087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60abd105-9d2a-4587-9e17-4586b8d034eb"/>
          <p:cNvSpPr txBox="1"/>
          <p:nvPr/>
        </p:nvSpPr>
        <p:spPr>
          <a:xfrm>
            <a:off x="640080" y="1170432"/>
            <a:ext cx="466344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6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数据性质与使用限制</a:t>
            </a:r>
          </a:p>
        </p:txBody>
      </p:sp>
      <p:sp>
        <p:nvSpPr>
          <p:cNvPr id="3" name="object_613d2d10-c3da-494a-8ac3-c39d65f96b8c"/>
          <p:cNvSpPr txBox="1"/>
          <p:nvPr/>
        </p:nvSpPr>
        <p:spPr>
          <a:xfrm>
            <a:off x="5852160" y="1133856"/>
            <a:ext cx="5669280" cy="4526280"/>
          </a:xfrm>
          <a:prstGeom prst="rect">
            <a:avLst/>
          </a:prstGeom>
          <a:solidFill>
            <a:srgbClr val="192C32"/>
          </a:solidFill>
          <a:ln>
            <a:noFill/>
          </a:ln>
        </p:spPr>
        <p:txBody>
          <a:bodyPr wrap="square" lIns="256032" rIns="256032" tIns="256032" bIns="256032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3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软件验收资料，所有数据为人工构造，非真实业务。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3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来源：本文件人工软件验收资料。不得推算节能比例、总量或因果。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3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节能比例：待确认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3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总量：待确认</a:t>
            </a:r>
          </a:p>
          <a:p>
            <a:pPr>
              <a:lnSpc>
                <a:spcPct val="115000"/>
              </a:lnSpc>
              <a:spcAft>
                <a:spcPts val="1600"/>
              </a:spcAft>
              <a:defRPr sz="2300" b="0">
                <a:solidFill>
                  <a:srgbClr val="F6F4EE"/>
                </a:solidFill>
                <a:latin typeface="Noto Sans CJK SC"/>
                <a:ea typeface="Noto Sans CJK SC"/>
              </a:defRPr>
            </a:pPr>
            <a:r>
              <a:t>因果：待确认</a:t>
            </a:r>
          </a:p>
        </p:txBody>
      </p:sp>
      <p:sp>
        <p:nvSpPr>
          <p:cNvPr id="4" name="object_996afced-91c5-4b40-8094-ee4b161eb391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2026年校园节能人工验证资料</dc:title>
  <dc:subject/>
  <dc:creator>YoloongPPT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