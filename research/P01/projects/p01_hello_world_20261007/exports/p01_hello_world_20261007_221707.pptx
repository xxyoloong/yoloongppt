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01_hello_wor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01_hello_wor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352550" y="104775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14288">
            <a:solidFill>
              <a:srgbClr val="1C2D3B"/>
            </a:solidFill>
          </a:ln>
        </p:spPr>
      </p:sp>
      <p:sp>
        <p:nvSpPr>
          <p:cNvPr id="3" name="spine-accent"/>
          <p:cNvSpPr/>
          <p:nvPr/>
        </p:nvSpPr>
        <p:spPr>
          <a:xfrm>
            <a:off x="1285875" y="1133475"/>
            <a:ext cx="133350" cy="133350"/>
          </a:xfrm>
          <a:prstGeom prst="ellipse">
            <a:avLst/>
          </a:prstGeom>
          <a:solidFill>
            <a:srgbClr val="A8422A"/>
          </a:solidFill>
          <a:ln>
            <a:noFill/>
          </a:ln>
        </p:spPr>
      </p:sp>
      <p:grpSp>
        <p:nvGrpSpPr>
          <p:cNvPr id="5" name="cover-kicker"/>
          <p:cNvGrpSpPr/>
          <p:nvPr/>
        </p:nvGrpSpPr>
        <p:grpSpPr>
          <a:xfrm>
            <a:off x="1708404" y="1285875"/>
            <a:ext cx="2088953" cy="234696"/>
            <a:chOff x="1708404" y="1285875"/>
            <a:chExt cx="2088953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708404" y="1285875"/>
              <a:ext cx="2088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A8422A"/>
                  </a:solidFill>
                  <a:latin typeface="+mn-lt"/>
                  <a:ea typeface="+mn-ea"/>
                  <a:cs typeface="+mn-cs"/>
                </a:rPr>
                <a:t>A QUICK BEGINNING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1657350" y="2330450"/>
            <a:ext cx="4788486" cy="1104900"/>
            <a:chOff x="1657350" y="2330450"/>
            <a:chExt cx="4788486" cy="1104900"/>
          </a:xfrm>
        </p:grpSpPr>
        <p:sp>
          <p:nvSpPr>
            <p:cNvPr id="6" name="TextBox 6"/>
            <p:cNvSpPr txBox="1"/>
            <p:nvPr/>
          </p:nvSpPr>
          <p:spPr>
            <a:xfrm>
              <a:off x="1657350" y="2330450"/>
              <a:ext cx="478848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dirty="0">
                  <a:solidFill>
                    <a:srgbClr val="1C2D3B"/>
                  </a:solidFill>
                  <a:latin typeface="+mj-lt"/>
                  <a:ea typeface="+mj-ea"/>
                  <a:cs typeface="+mj-cs"/>
                </a:rPr>
                <a:t>Hello, world.</a:t>
              </a:r>
            </a:p>
          </p:txBody>
        </p:sp>
      </p:grpSp>
      <p:grpSp>
        <p:nvGrpSpPr>
          <p:cNvPr id="9" name="cover-subtitle"/>
          <p:cNvGrpSpPr/>
          <p:nvPr/>
        </p:nvGrpSpPr>
        <p:grpSpPr>
          <a:xfrm>
            <a:off x="1703070" y="3578225"/>
            <a:ext cx="3263065" cy="440055"/>
            <a:chOff x="1703070" y="3578225"/>
            <a:chExt cx="3263065" cy="440055"/>
          </a:xfrm>
        </p:grpSpPr>
        <p:sp>
          <p:nvSpPr>
            <p:cNvPr id="8" name="TextBox 8"/>
            <p:cNvSpPr txBox="1"/>
            <p:nvPr/>
          </p:nvSpPr>
          <p:spPr>
            <a:xfrm>
              <a:off x="1703070" y="3578225"/>
              <a:ext cx="32630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A first line is a real start.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714500" y="4362450"/>
            <a:ext cx="2457450" cy="9525"/>
          </a:xfrm>
          <a:custGeom>
            <a:avLst/>
            <a:gdLst/>
            <a:ahLst/>
            <a:cxnLst/>
            <a:rect l="l" t="t" r="r" b="b"/>
            <a:pathLst>
              <a:path w="2457450" h="9525">
                <a:moveTo>
                  <a:pt x="0" y="0"/>
                </a:moveTo>
                <a:lnTo>
                  <a:pt x="2457450" y="0"/>
                </a:lnTo>
              </a:path>
            </a:pathLst>
          </a:custGeom>
          <a:noFill/>
          <a:ln w="19050">
            <a:solidFill>
              <a:srgbClr val="A8422A"/>
            </a:solidFill>
          </a:ln>
        </p:spPr>
      </p:sp>
      <p:grpSp>
        <p:nvGrpSpPr>
          <p:cNvPr id="12" name="cover-page-number"/>
          <p:cNvGrpSpPr/>
          <p:nvPr/>
        </p:nvGrpSpPr>
        <p:grpSpPr>
          <a:xfrm>
            <a:off x="10834620" y="6057900"/>
            <a:ext cx="506226" cy="234696"/>
            <a:chOff x="10834620" y="6057900"/>
            <a:chExt cx="506226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10834620" y="6057900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C6972"/>
                  </a:solidFill>
                  <a:latin typeface="+mn-lt"/>
                  <a:ea typeface="+mn-ea"/>
                  <a:cs typeface="+mn-cs"/>
                </a:rPr>
                <a:t>01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90600" y="971550"/>
            <a:ext cx="9525" cy="4781550"/>
          </a:xfrm>
          <a:custGeom>
            <a:avLst/>
            <a:gdLst/>
            <a:ahLst/>
            <a:cxnLst/>
            <a:rect l="l" t="t" r="r" b="b"/>
            <a:pathLst>
              <a:path w="9525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14288">
            <a:solidFill>
              <a:srgbClr val="1C2D3B"/>
            </a:solidFill>
          </a:ln>
        </p:spPr>
      </p:sp>
      <p:sp>
        <p:nvSpPr>
          <p:cNvPr id="3" name="spine-accent"/>
          <p:cNvSpPr/>
          <p:nvPr/>
        </p:nvSpPr>
        <p:spPr>
          <a:xfrm>
            <a:off x="923925" y="1057275"/>
            <a:ext cx="133350" cy="133350"/>
          </a:xfrm>
          <a:prstGeom prst="ellipse">
            <a:avLst/>
          </a:prstGeom>
          <a:solidFill>
            <a:srgbClr val="A8422A"/>
          </a:solidFill>
          <a:ln>
            <a:noFill/>
          </a:ln>
        </p:spPr>
      </p:sp>
      <p:grpSp>
        <p:nvGrpSpPr>
          <p:cNvPr id="5" name="steps-title"/>
          <p:cNvGrpSpPr/>
          <p:nvPr/>
        </p:nvGrpSpPr>
        <p:grpSpPr>
          <a:xfrm>
            <a:off x="1353312" y="993775"/>
            <a:ext cx="4737542" cy="704088"/>
            <a:chOff x="1353312" y="993775"/>
            <a:chExt cx="4737542" cy="704088"/>
          </a:xfrm>
        </p:grpSpPr>
        <p:sp>
          <p:nvSpPr>
            <p:cNvPr id="4" name="TextBox 4"/>
            <p:cNvSpPr txBox="1"/>
            <p:nvPr/>
          </p:nvSpPr>
          <p:spPr>
            <a:xfrm>
              <a:off x="1353312" y="993775"/>
              <a:ext cx="47375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1C2D3B"/>
                  </a:solidFill>
                  <a:latin typeface="+mj-lt"/>
                  <a:ea typeface="+mj-ea"/>
                  <a:cs typeface="+mj-cs"/>
                </a:rPr>
                <a:t>Make the first move.</a:t>
              </a:r>
            </a:p>
          </p:txBody>
        </p:sp>
      </p:grpSp>
      <p:grpSp>
        <p:nvGrpSpPr>
          <p:cNvPr id="7" name="steps-standfirst"/>
          <p:cNvGrpSpPr/>
          <p:nvPr/>
        </p:nvGrpSpPr>
        <p:grpSpPr>
          <a:xfrm>
            <a:off x="1381125" y="1743075"/>
            <a:ext cx="6133031" cy="367665"/>
            <a:chOff x="1381125" y="1743075"/>
            <a:chExt cx="6133031" cy="367665"/>
          </a:xfrm>
        </p:grpSpPr>
        <p:sp>
          <p:nvSpPr>
            <p:cNvPr id="6" name="TextBox 6"/>
            <p:cNvSpPr txBox="1"/>
            <p:nvPr/>
          </p:nvSpPr>
          <p:spPr>
            <a:xfrm>
              <a:off x="1381125" y="1743075"/>
              <a:ext cx="613303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A clear idea becomes real through a simple sequence.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4438650" y="270510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4288">
            <a:solidFill>
              <a:srgbClr val="C8C0B5"/>
            </a:solidFill>
          </a:ln>
        </p:spPr>
      </p:sp>
      <p:sp>
        <p:nvSpPr>
          <p:cNvPr id="9" name="Line 9"/>
          <p:cNvSpPr/>
          <p:nvPr/>
        </p:nvSpPr>
        <p:spPr>
          <a:xfrm>
            <a:off x="7886700" y="270510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4288">
            <a:solidFill>
              <a:srgbClr val="C8C0B5"/>
            </a:solidFill>
          </a:ln>
        </p:spPr>
      </p:sp>
      <p:grpSp>
        <p:nvGrpSpPr>
          <p:cNvPr id="13" name="step-one"/>
          <p:cNvGrpSpPr/>
          <p:nvPr/>
        </p:nvGrpSpPr>
        <p:grpSpPr>
          <a:xfrm>
            <a:off x="1371600" y="2809875"/>
            <a:ext cx="1468138" cy="1798193"/>
            <a:chOff x="1371600" y="2809875"/>
            <a:chExt cx="1468138" cy="1798193"/>
          </a:xfrm>
        </p:grpSpPr>
        <p:sp>
          <p:nvSpPr>
            <p:cNvPr id="10" name="TextBox 10"/>
            <p:cNvSpPr txBox="1"/>
            <p:nvPr/>
          </p:nvSpPr>
          <p:spPr>
            <a:xfrm>
              <a:off x="1371600" y="2809875"/>
              <a:ext cx="728288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A8422A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390650" y="36480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4288">
              <a:solidFill>
                <a:srgbClr val="1C2D3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79982" y="3835400"/>
              <a:ext cx="145975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Choose one</a:t>
              </a:r>
              <a:b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question.</a:t>
              </a:r>
            </a:p>
          </p:txBody>
        </p:sp>
      </p:grpSp>
      <p:grpSp>
        <p:nvGrpSpPr>
          <p:cNvPr id="17" name="step-two"/>
          <p:cNvGrpSpPr/>
          <p:nvPr/>
        </p:nvGrpSpPr>
        <p:grpSpPr>
          <a:xfrm>
            <a:off x="4876800" y="2809875"/>
            <a:ext cx="1408024" cy="1798193"/>
            <a:chOff x="4876800" y="2809875"/>
            <a:chExt cx="1408024" cy="1798193"/>
          </a:xfrm>
        </p:grpSpPr>
        <p:sp>
          <p:nvSpPr>
            <p:cNvPr id="14" name="TextBox 14"/>
            <p:cNvSpPr txBox="1"/>
            <p:nvPr/>
          </p:nvSpPr>
          <p:spPr>
            <a:xfrm>
              <a:off x="4876800" y="2809875"/>
              <a:ext cx="81354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A8422A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95850" y="36480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4288">
              <a:solidFill>
                <a:srgbClr val="1C2D3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85182" y="3835400"/>
              <a:ext cx="1399642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Make a first</a:t>
              </a:r>
              <a:b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draft.</a:t>
              </a:r>
            </a:p>
          </p:txBody>
        </p:sp>
      </p:grpSp>
      <p:grpSp>
        <p:nvGrpSpPr>
          <p:cNvPr id="21" name="step-three"/>
          <p:cNvGrpSpPr/>
          <p:nvPr/>
        </p:nvGrpSpPr>
        <p:grpSpPr>
          <a:xfrm>
            <a:off x="8305800" y="2809875"/>
            <a:ext cx="1541800" cy="1798193"/>
            <a:chOff x="8305800" y="2809875"/>
            <a:chExt cx="1541800" cy="1798193"/>
          </a:xfrm>
        </p:grpSpPr>
        <p:sp>
          <p:nvSpPr>
            <p:cNvPr id="18" name="TextBox 18"/>
            <p:cNvSpPr txBox="1"/>
            <p:nvPr/>
          </p:nvSpPr>
          <p:spPr>
            <a:xfrm>
              <a:off x="8305800" y="2809875"/>
              <a:ext cx="80904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A8422A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24850" y="36480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4288">
              <a:solidFill>
                <a:srgbClr val="1C2D3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4182" y="3835400"/>
              <a:ext cx="1533418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Improve the</a:t>
              </a:r>
              <a:b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next version.</a:t>
              </a:r>
            </a:p>
          </p:txBody>
        </p:sp>
      </p:grpSp>
      <p:grpSp>
        <p:nvGrpSpPr>
          <p:cNvPr id="23" name="steps-page-number"/>
          <p:cNvGrpSpPr/>
          <p:nvPr/>
        </p:nvGrpSpPr>
        <p:grpSpPr>
          <a:xfrm>
            <a:off x="10834620" y="6057900"/>
            <a:ext cx="506226" cy="234696"/>
            <a:chOff x="10834620" y="6057900"/>
            <a:chExt cx="506226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10834620" y="6057900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C6972"/>
                  </a:solidFill>
                  <a:latin typeface="+mn-lt"/>
                  <a:ea typeface="+mn-ea"/>
                  <a:cs typeface="+mn-cs"/>
                </a:rPr>
                <a:t>02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352550" y="104775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14288">
            <a:solidFill>
              <a:srgbClr val="1C2D3B"/>
            </a:solidFill>
          </a:ln>
        </p:spPr>
      </p:sp>
      <p:sp>
        <p:nvSpPr>
          <p:cNvPr id="3" name="spine-accent"/>
          <p:cNvSpPr/>
          <p:nvPr/>
        </p:nvSpPr>
        <p:spPr>
          <a:xfrm>
            <a:off x="1285875" y="1133475"/>
            <a:ext cx="133350" cy="133350"/>
          </a:xfrm>
          <a:prstGeom prst="ellipse">
            <a:avLst/>
          </a:prstGeom>
          <a:solidFill>
            <a:srgbClr val="A8422A"/>
          </a:solidFill>
          <a:ln>
            <a:noFill/>
          </a:ln>
        </p:spPr>
      </p:sp>
      <p:grpSp>
        <p:nvGrpSpPr>
          <p:cNvPr id="5" name="ending-kicker"/>
          <p:cNvGrpSpPr/>
          <p:nvPr/>
        </p:nvGrpSpPr>
        <p:grpSpPr>
          <a:xfrm>
            <a:off x="1708404" y="1285875"/>
            <a:ext cx="1605394" cy="234696"/>
            <a:chOff x="1708404" y="1285875"/>
            <a:chExt cx="160539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708404" y="1285875"/>
              <a:ext cx="1605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A8422A"/>
                  </a:solidFill>
                  <a:latin typeface="+mn-lt"/>
                  <a:ea typeface="+mn-ea"/>
                  <a:cs typeface="+mn-cs"/>
                </a:rPr>
                <a:t>KEEP BUILDING</a:t>
              </a:r>
            </a:p>
          </p:txBody>
        </p:sp>
      </p:grpSp>
      <p:grpSp>
        <p:nvGrpSpPr>
          <p:cNvPr id="7" name="ending-title"/>
          <p:cNvGrpSpPr/>
          <p:nvPr/>
        </p:nvGrpSpPr>
        <p:grpSpPr>
          <a:xfrm>
            <a:off x="1657350" y="2425700"/>
            <a:ext cx="7440361" cy="990600"/>
            <a:chOff x="1657350" y="2425700"/>
            <a:chExt cx="7440361" cy="990600"/>
          </a:xfrm>
        </p:grpSpPr>
        <p:sp>
          <p:nvSpPr>
            <p:cNvPr id="6" name="TextBox 6"/>
            <p:cNvSpPr txBox="1"/>
            <p:nvPr/>
          </p:nvSpPr>
          <p:spPr>
            <a:xfrm>
              <a:off x="1657350" y="2425700"/>
              <a:ext cx="744036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dirty="0">
                  <a:solidFill>
                    <a:srgbClr val="1C2D3B"/>
                  </a:solidFill>
                  <a:latin typeface="+mj-lt"/>
                  <a:ea typeface="+mj-ea"/>
                  <a:cs typeface="+mj-cs"/>
                </a:rPr>
                <a:t>The next page is yours.</a:t>
              </a:r>
            </a:p>
          </p:txBody>
        </p:sp>
      </p:grpSp>
      <p:grpSp>
        <p:nvGrpSpPr>
          <p:cNvPr id="9" name="ending-copy"/>
          <p:cNvGrpSpPr/>
          <p:nvPr/>
        </p:nvGrpSpPr>
        <p:grpSpPr>
          <a:xfrm>
            <a:off x="1703070" y="3648075"/>
            <a:ext cx="2691422" cy="840105"/>
            <a:chOff x="1703070" y="3648075"/>
            <a:chExt cx="2691422" cy="840105"/>
          </a:xfrm>
        </p:grpSpPr>
        <p:sp>
          <p:nvSpPr>
            <p:cNvPr id="8" name="TextBox 8"/>
            <p:cNvSpPr txBox="1"/>
            <p:nvPr/>
          </p:nvSpPr>
          <p:spPr>
            <a:xfrm>
              <a:off x="1703070" y="3648075"/>
              <a:ext cx="2691422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Choose a small idea.</a:t>
              </a:r>
              <a:b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Give it a first line.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714500" y="4857750"/>
            <a:ext cx="2457450" cy="9525"/>
          </a:xfrm>
          <a:custGeom>
            <a:avLst/>
            <a:gdLst/>
            <a:ahLst/>
            <a:cxnLst/>
            <a:rect l="l" t="t" r="r" b="b"/>
            <a:pathLst>
              <a:path w="2457450" h="9525">
                <a:moveTo>
                  <a:pt x="0" y="0"/>
                </a:moveTo>
                <a:lnTo>
                  <a:pt x="2457450" y="0"/>
                </a:lnTo>
              </a:path>
            </a:pathLst>
          </a:custGeom>
          <a:noFill/>
          <a:ln w="19050">
            <a:solidFill>
              <a:srgbClr val="A8422A"/>
            </a:solidFill>
          </a:ln>
        </p:spPr>
      </p:sp>
      <p:grpSp>
        <p:nvGrpSpPr>
          <p:cNvPr id="12" name="ending-page-number"/>
          <p:cNvGrpSpPr/>
          <p:nvPr/>
        </p:nvGrpSpPr>
        <p:grpSpPr>
          <a:xfrm>
            <a:off x="10834620" y="6057900"/>
            <a:ext cx="506226" cy="234696"/>
            <a:chOff x="10834620" y="6057900"/>
            <a:chExt cx="506226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10834620" y="6057900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C6972"/>
                  </a:solidFill>
                  <a:latin typeface="+mn-lt"/>
                  <a:ea typeface="+mn-ea"/>
                  <a:cs typeface="+mn-cs"/>
                </a:rPr>
                <a:t>03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01_hello_world">
  <a:themeElements>
    <a:clrScheme name="p01_hello_worl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01_hello_world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01_hello_wor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2026-10-07T22:17:09Z</dcterms:created>
  <dcterms:modified xsi:type="dcterms:W3CDTF">2026-10-07T22:17:09Z</dcterms:modified>
  <cp:category/>
  <cp:contentStatus/>
</cp:coreProperties>
</file>